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Fraunces Extra Bold" panose="020B0604020202020204" charset="0"/>
      <p:regular r:id="rId13"/>
    </p:embeddedFont>
    <p:embeddedFont>
      <p:font typeface="Nobile"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F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2" d="100"/>
          <a:sy n="102" d="100"/>
        </p:scale>
        <p:origin x="138"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4592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hyperlink" Target="https://vistavignettes.great-site.net/gallery.html?i=1" TargetMode="Externa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348627"/>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VistaVignettes: Dynamic Wallpaper Gallery</a:t>
            </a:r>
            <a:endParaRPr lang="en-US" sz="4450" dirty="0"/>
          </a:p>
        </p:txBody>
      </p:sp>
      <p:sp>
        <p:nvSpPr>
          <p:cNvPr id="4" name="Text 1"/>
          <p:cNvSpPr/>
          <p:nvPr/>
        </p:nvSpPr>
        <p:spPr>
          <a:xfrm>
            <a:off x="6280190" y="4106347"/>
            <a:ext cx="7556421" cy="708660"/>
          </a:xfrm>
          <a:prstGeom prst="rect">
            <a:avLst/>
          </a:prstGeom>
          <a:noFill/>
          <a:ln/>
        </p:spPr>
        <p:txBody>
          <a:bodyPr wrap="square" lIns="0" tIns="0" rIns="0" bIns="0" rtlCol="0" anchor="t"/>
          <a:lstStyle/>
          <a:p>
            <a:pPr marL="0" indent="0" algn="l">
              <a:lnSpc>
                <a:spcPts val="2750"/>
              </a:lnSpc>
              <a:buNone/>
            </a:pPr>
            <a:r>
              <a:rPr lang="en-US" sz="2200" b="1" dirty="0">
                <a:solidFill>
                  <a:srgbClr val="3B4540"/>
                </a:solidFill>
                <a:latin typeface="Fraunces Extra Bold" pitchFamily="34" charset="0"/>
                <a:ea typeface="Fraunces Extra Bold" pitchFamily="34" charset="-122"/>
                <a:cs typeface="Fraunces Extra Bold" pitchFamily="34" charset="-120"/>
              </a:rPr>
              <a:t>Blending Immersive 3D Visualization with AI-Powered Content Curation</a:t>
            </a:r>
            <a:endParaRPr lang="en-US" sz="2200" dirty="0"/>
          </a:p>
        </p:txBody>
      </p:sp>
      <p:sp>
        <p:nvSpPr>
          <p:cNvPr id="5" name="Text 2"/>
          <p:cNvSpPr/>
          <p:nvPr/>
        </p:nvSpPr>
        <p:spPr>
          <a:xfrm>
            <a:off x="6280190" y="5155168"/>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Submitted by Abhimanyu Singh Rajawat (IU2341230380)Indus University, October 2025</a:t>
            </a:r>
            <a:endParaRPr lang="en-US" sz="1750" dirty="0"/>
          </a:p>
        </p:txBody>
      </p:sp>
      <p:sp>
        <p:nvSpPr>
          <p:cNvPr id="6" name="Rectangle 5">
            <a:extLst>
              <a:ext uri="{FF2B5EF4-FFF2-40B4-BE49-F238E27FC236}">
                <a16:creationId xmlns:a16="http://schemas.microsoft.com/office/drawing/2014/main" id="{59A0DFFA-33C6-6F1D-8158-BC8AF0C00CD8}"/>
              </a:ext>
            </a:extLst>
          </p:cNvPr>
          <p:cNvSpPr/>
          <p:nvPr/>
        </p:nvSpPr>
        <p:spPr>
          <a:xfrm>
            <a:off x="12754466" y="7758260"/>
            <a:ext cx="1800520" cy="377072"/>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98275" y="635318"/>
            <a:ext cx="7720251" cy="1271111"/>
          </a:xfrm>
          <a:prstGeom prst="rect">
            <a:avLst/>
          </a:prstGeom>
          <a:noFill/>
          <a:ln/>
        </p:spPr>
        <p:txBody>
          <a:bodyPr wrap="square" lIns="0" tIns="0" rIns="0" bIns="0" rtlCol="0" anchor="t"/>
          <a:lstStyle/>
          <a:p>
            <a:pPr marL="0" indent="0" algn="l">
              <a:lnSpc>
                <a:spcPts val="5000"/>
              </a:lnSpc>
              <a:buNone/>
            </a:pPr>
            <a:r>
              <a:rPr lang="en-US" sz="4000" b="1" dirty="0">
                <a:solidFill>
                  <a:srgbClr val="3B4540"/>
                </a:solidFill>
                <a:latin typeface="Fraunces Extra Bold" pitchFamily="34" charset="0"/>
                <a:ea typeface="Fraunces Extra Bold" pitchFamily="34" charset="-122"/>
                <a:cs typeface="Fraunces Extra Bold" pitchFamily="34" charset="-120"/>
              </a:rPr>
              <a:t>The Context: Problem &amp; Opportunity</a:t>
            </a:r>
            <a:endParaRPr lang="en-US" sz="4000" dirty="0"/>
          </a:p>
        </p:txBody>
      </p:sp>
      <p:sp>
        <p:nvSpPr>
          <p:cNvPr id="4" name="Text 1"/>
          <p:cNvSpPr/>
          <p:nvPr/>
        </p:nvSpPr>
        <p:spPr>
          <a:xfrm>
            <a:off x="6198275" y="2414826"/>
            <a:ext cx="3050977" cy="381357"/>
          </a:xfrm>
          <a:prstGeom prst="rect">
            <a:avLst/>
          </a:prstGeom>
          <a:noFill/>
          <a:ln/>
        </p:spPr>
        <p:txBody>
          <a:bodyPr wrap="none" lIns="0" tIns="0" rIns="0" bIns="0" rtlCol="0" anchor="t"/>
          <a:lstStyle/>
          <a:p>
            <a:pPr marL="0" indent="0" algn="l">
              <a:lnSpc>
                <a:spcPts val="3000"/>
              </a:lnSpc>
              <a:buNone/>
            </a:pPr>
            <a:r>
              <a:rPr lang="en-US" sz="2400" b="1" dirty="0">
                <a:solidFill>
                  <a:srgbClr val="3B4540"/>
                </a:solidFill>
                <a:latin typeface="Fraunces Extra Bold" pitchFamily="34" charset="0"/>
                <a:ea typeface="Fraunces Extra Bold" pitchFamily="34" charset="-122"/>
                <a:cs typeface="Fraunces Extra Bold" pitchFamily="34" charset="-120"/>
              </a:rPr>
              <a:t>The Challenge</a:t>
            </a:r>
            <a:endParaRPr lang="en-US" sz="2400" dirty="0"/>
          </a:p>
        </p:txBody>
      </p:sp>
      <p:sp>
        <p:nvSpPr>
          <p:cNvPr id="5" name="Text 2"/>
          <p:cNvSpPr/>
          <p:nvPr/>
        </p:nvSpPr>
        <p:spPr>
          <a:xfrm>
            <a:off x="6198275" y="2999542"/>
            <a:ext cx="3611999" cy="2602230"/>
          </a:xfrm>
          <a:prstGeom prst="rect">
            <a:avLst/>
          </a:prstGeom>
          <a:noFill/>
          <a:ln/>
        </p:spPr>
        <p:txBody>
          <a:bodyPr wrap="square" lIns="0" tIns="0" rIns="0" bIns="0" rtlCol="0" anchor="t"/>
          <a:lstStyle/>
          <a:p>
            <a:pPr marL="0" indent="0" algn="l">
              <a:lnSpc>
                <a:spcPts val="2550"/>
              </a:lnSpc>
              <a:buNone/>
            </a:pPr>
            <a:r>
              <a:rPr lang="en-US" sz="1600" dirty="0">
                <a:solidFill>
                  <a:srgbClr val="405449"/>
                </a:solidFill>
                <a:latin typeface="Nobile" pitchFamily="34" charset="0"/>
                <a:ea typeface="Nobile" pitchFamily="34" charset="-122"/>
                <a:cs typeface="Nobile" pitchFamily="34" charset="-120"/>
              </a:rPr>
              <a:t>Traditional digital galleries are constrained by static 2D interfaces that fail to engage modern users. Content management demands extensive manual labor for tagging, categorization, and metadata creation—a process that doesn't scale efficiently.</a:t>
            </a:r>
            <a:endParaRPr lang="en-US" sz="1600" dirty="0"/>
          </a:p>
        </p:txBody>
      </p:sp>
      <p:sp>
        <p:nvSpPr>
          <p:cNvPr id="6" name="Text 3"/>
          <p:cNvSpPr/>
          <p:nvPr/>
        </p:nvSpPr>
        <p:spPr>
          <a:xfrm>
            <a:off x="6198275" y="5784771"/>
            <a:ext cx="3611999" cy="1626394"/>
          </a:xfrm>
          <a:prstGeom prst="rect">
            <a:avLst/>
          </a:prstGeom>
          <a:noFill/>
          <a:ln/>
        </p:spPr>
        <p:txBody>
          <a:bodyPr wrap="square" lIns="0" tIns="0" rIns="0" bIns="0" rtlCol="0" anchor="t"/>
          <a:lstStyle/>
          <a:p>
            <a:pPr marL="0" indent="0" algn="l">
              <a:lnSpc>
                <a:spcPts val="2550"/>
              </a:lnSpc>
              <a:buNone/>
            </a:pPr>
            <a:r>
              <a:rPr lang="en-US" sz="1600" dirty="0">
                <a:solidFill>
                  <a:srgbClr val="405449"/>
                </a:solidFill>
                <a:latin typeface="Nobile" pitchFamily="34" charset="0"/>
                <a:ea typeface="Nobile" pitchFamily="34" charset="-122"/>
                <a:cs typeface="Nobile" pitchFamily="34" charset="-120"/>
              </a:rPr>
              <a:t>These limitations create friction in both user experience and administrative workflows, preventing galleries from adapting to growing content libraries.</a:t>
            </a:r>
            <a:endParaRPr lang="en-US" sz="1600" dirty="0"/>
          </a:p>
        </p:txBody>
      </p:sp>
      <p:sp>
        <p:nvSpPr>
          <p:cNvPr id="7" name="Text 4"/>
          <p:cNvSpPr/>
          <p:nvPr/>
        </p:nvSpPr>
        <p:spPr>
          <a:xfrm>
            <a:off x="10314146" y="2414826"/>
            <a:ext cx="3050977" cy="381357"/>
          </a:xfrm>
          <a:prstGeom prst="rect">
            <a:avLst/>
          </a:prstGeom>
          <a:noFill/>
          <a:ln/>
        </p:spPr>
        <p:txBody>
          <a:bodyPr wrap="none" lIns="0" tIns="0" rIns="0" bIns="0" rtlCol="0" anchor="t"/>
          <a:lstStyle/>
          <a:p>
            <a:pPr marL="0" indent="0" algn="l">
              <a:lnSpc>
                <a:spcPts val="3000"/>
              </a:lnSpc>
              <a:buNone/>
            </a:pPr>
            <a:r>
              <a:rPr lang="en-US" sz="2400" b="1" dirty="0">
                <a:solidFill>
                  <a:srgbClr val="3B4540"/>
                </a:solidFill>
                <a:latin typeface="Fraunces Extra Bold" pitchFamily="34" charset="0"/>
                <a:ea typeface="Fraunces Extra Bold" pitchFamily="34" charset="-122"/>
                <a:cs typeface="Fraunces Extra Bold" pitchFamily="34" charset="-120"/>
              </a:rPr>
              <a:t>The Solution</a:t>
            </a:r>
            <a:endParaRPr lang="en-US" sz="2400" dirty="0"/>
          </a:p>
        </p:txBody>
      </p:sp>
      <p:sp>
        <p:nvSpPr>
          <p:cNvPr id="8" name="Text 5"/>
          <p:cNvSpPr/>
          <p:nvPr/>
        </p:nvSpPr>
        <p:spPr>
          <a:xfrm>
            <a:off x="10314146" y="2999542"/>
            <a:ext cx="3611999" cy="2927509"/>
          </a:xfrm>
          <a:prstGeom prst="rect">
            <a:avLst/>
          </a:prstGeom>
          <a:noFill/>
          <a:ln/>
        </p:spPr>
        <p:txBody>
          <a:bodyPr wrap="square" lIns="0" tIns="0" rIns="0" bIns="0" rtlCol="0" anchor="t"/>
          <a:lstStyle/>
          <a:p>
            <a:pPr marL="0" indent="0" algn="l">
              <a:lnSpc>
                <a:spcPts val="2550"/>
              </a:lnSpc>
              <a:buNone/>
            </a:pPr>
            <a:r>
              <a:rPr lang="en-US" sz="1600" dirty="0">
                <a:solidFill>
                  <a:srgbClr val="405449"/>
                </a:solidFill>
                <a:latin typeface="Nobile" pitchFamily="34" charset="0"/>
                <a:ea typeface="Nobile" pitchFamily="34" charset="-122"/>
                <a:cs typeface="Nobile" pitchFamily="34" charset="-120"/>
              </a:rPr>
              <a:t>VistaVignettes leverages cutting-edge technology to transform the gallery experience. By integrating Generative AI (Gemini) for automated content intelligence and Three.js for immersive 3D visualization, we eliminate manual overhead while redefining user engagement.</a:t>
            </a:r>
            <a:endParaRPr lang="en-US" sz="1600" dirty="0"/>
          </a:p>
        </p:txBody>
      </p:sp>
      <p:sp>
        <p:nvSpPr>
          <p:cNvPr id="9" name="Text 6"/>
          <p:cNvSpPr/>
          <p:nvPr/>
        </p:nvSpPr>
        <p:spPr>
          <a:xfrm>
            <a:off x="10314146" y="6110049"/>
            <a:ext cx="3611999" cy="975836"/>
          </a:xfrm>
          <a:prstGeom prst="rect">
            <a:avLst/>
          </a:prstGeom>
          <a:noFill/>
          <a:ln/>
        </p:spPr>
        <p:txBody>
          <a:bodyPr wrap="square" lIns="0" tIns="0" rIns="0" bIns="0" rtlCol="0" anchor="t"/>
          <a:lstStyle/>
          <a:p>
            <a:pPr marL="0" indent="0" algn="l">
              <a:lnSpc>
                <a:spcPts val="2550"/>
              </a:lnSpc>
              <a:buNone/>
            </a:pPr>
            <a:r>
              <a:rPr lang="en-US" sz="1600" dirty="0">
                <a:solidFill>
                  <a:srgbClr val="405449"/>
                </a:solidFill>
                <a:latin typeface="Nobile" pitchFamily="34" charset="0"/>
                <a:ea typeface="Nobile" pitchFamily="34" charset="-122"/>
                <a:cs typeface="Nobile" pitchFamily="34" charset="-120"/>
              </a:rPr>
              <a:t>This approach creates a scalable, intelligent platform that adapts to both curator and visitor needs.</a:t>
            </a:r>
            <a:endParaRPr lang="en-US" sz="1600" dirty="0"/>
          </a:p>
        </p:txBody>
      </p:sp>
      <p:sp>
        <p:nvSpPr>
          <p:cNvPr id="10" name="Rectangle 9">
            <a:extLst>
              <a:ext uri="{FF2B5EF4-FFF2-40B4-BE49-F238E27FC236}">
                <a16:creationId xmlns:a16="http://schemas.microsoft.com/office/drawing/2014/main" id="{BD4CE8F4-CCD5-4E1C-2B86-86DF2C6F5CA6}"/>
              </a:ext>
            </a:extLst>
          </p:cNvPr>
          <p:cNvSpPr/>
          <p:nvPr/>
        </p:nvSpPr>
        <p:spPr>
          <a:xfrm>
            <a:off x="12754466" y="7758260"/>
            <a:ext cx="1800520" cy="377072"/>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64858" y="774621"/>
            <a:ext cx="13100685" cy="1365885"/>
          </a:xfrm>
          <a:prstGeom prst="rect">
            <a:avLst/>
          </a:prstGeom>
          <a:noFill/>
          <a:ln/>
        </p:spPr>
        <p:txBody>
          <a:bodyPr wrap="square" lIns="0" tIns="0" rIns="0" bIns="0" rtlCol="0" anchor="t"/>
          <a:lstStyle/>
          <a:p>
            <a:pPr marL="0" indent="0" algn="l">
              <a:lnSpc>
                <a:spcPts val="5350"/>
              </a:lnSpc>
              <a:buNone/>
            </a:pPr>
            <a:r>
              <a:rPr lang="en-US" sz="4300" b="1" dirty="0">
                <a:solidFill>
                  <a:srgbClr val="3B4540"/>
                </a:solidFill>
                <a:latin typeface="Fraunces Extra Bold" pitchFamily="34" charset="0"/>
                <a:ea typeface="Fraunces Extra Bold" pitchFamily="34" charset="-122"/>
                <a:cs typeface="Fraunces Extra Bold" pitchFamily="34" charset="-120"/>
              </a:rPr>
              <a:t>Frontend Innovation: Immersive User Experience</a:t>
            </a:r>
            <a:endParaRPr lang="en-US" sz="4300" dirty="0"/>
          </a:p>
        </p:txBody>
      </p:sp>
      <p:sp>
        <p:nvSpPr>
          <p:cNvPr id="3" name="Shape 1"/>
          <p:cNvSpPr/>
          <p:nvPr/>
        </p:nvSpPr>
        <p:spPr>
          <a:xfrm>
            <a:off x="764858" y="2577465"/>
            <a:ext cx="4221242" cy="4877514"/>
          </a:xfrm>
          <a:prstGeom prst="roundRect">
            <a:avLst>
              <a:gd name="adj" fmla="val 4659"/>
            </a:avLst>
          </a:prstGeom>
          <a:solidFill>
            <a:srgbClr val="E8F3E8"/>
          </a:solidFill>
          <a:ln/>
        </p:spPr>
      </p:sp>
      <p:sp>
        <p:nvSpPr>
          <p:cNvPr id="4" name="Text 2"/>
          <p:cNvSpPr/>
          <p:nvPr/>
        </p:nvSpPr>
        <p:spPr>
          <a:xfrm>
            <a:off x="983337" y="2795945"/>
            <a:ext cx="3784283" cy="682704"/>
          </a:xfrm>
          <a:prstGeom prst="rect">
            <a:avLst/>
          </a:prstGeom>
          <a:noFill/>
          <a:ln/>
        </p:spPr>
        <p:txBody>
          <a:bodyPr wrap="square" lIns="0" tIns="0" rIns="0" bIns="0" rtlCol="0" anchor="t"/>
          <a:lstStyle/>
          <a:p>
            <a:pPr marL="0" indent="0" algn="l">
              <a:lnSpc>
                <a:spcPts val="2650"/>
              </a:lnSpc>
              <a:buNone/>
            </a:pPr>
            <a:r>
              <a:rPr lang="en-US" sz="2150" b="1" dirty="0">
                <a:solidFill>
                  <a:srgbClr val="405449"/>
                </a:solidFill>
                <a:latin typeface="Fraunces Extra Bold" pitchFamily="34" charset="0"/>
                <a:ea typeface="Fraunces Extra Bold" pitchFamily="34" charset="-122"/>
                <a:cs typeface="Fraunces Extra Bold" pitchFamily="34" charset="-120"/>
              </a:rPr>
              <a:t>Three.js 3D Interactive Sphere</a:t>
            </a:r>
            <a:endParaRPr lang="en-US" sz="2150" dirty="0"/>
          </a:p>
        </p:txBody>
      </p:sp>
      <p:sp>
        <p:nvSpPr>
          <p:cNvPr id="5" name="Text 3"/>
          <p:cNvSpPr/>
          <p:nvPr/>
        </p:nvSpPr>
        <p:spPr>
          <a:xfrm>
            <a:off x="983337" y="3609737"/>
            <a:ext cx="3784283" cy="2446973"/>
          </a:xfrm>
          <a:prstGeom prst="rect">
            <a:avLst/>
          </a:prstGeom>
          <a:noFill/>
          <a:ln/>
        </p:spPr>
        <p:txBody>
          <a:bodyPr wrap="square" lIns="0" tIns="0" rIns="0" bIns="0" rtlCol="0" anchor="t"/>
          <a:lstStyle/>
          <a:p>
            <a:pPr marL="0" indent="0" algn="l">
              <a:lnSpc>
                <a:spcPts val="2750"/>
              </a:lnSpc>
              <a:buNone/>
            </a:pPr>
            <a:r>
              <a:rPr lang="en-US" sz="1700" dirty="0">
                <a:solidFill>
                  <a:srgbClr val="405449"/>
                </a:solidFill>
                <a:latin typeface="Nobile" pitchFamily="34" charset="0"/>
                <a:ea typeface="Nobile" pitchFamily="34" charset="-122"/>
                <a:cs typeface="Nobile" pitchFamily="34" charset="-120"/>
              </a:rPr>
              <a:t>The JavaScript implementation in main.js renders a fully rotational, feature-mapped sphere showcasing featured wallpapers. Users can orbit, zoom, and explore content in three dimensions, creating memorable first impressions.</a:t>
            </a:r>
            <a:endParaRPr lang="en-US" sz="1700" dirty="0"/>
          </a:p>
        </p:txBody>
      </p:sp>
      <p:sp>
        <p:nvSpPr>
          <p:cNvPr id="6" name="Text 4"/>
          <p:cNvSpPr/>
          <p:nvPr/>
        </p:nvSpPr>
        <p:spPr>
          <a:xfrm>
            <a:off x="983337" y="6187797"/>
            <a:ext cx="3784283" cy="1048703"/>
          </a:xfrm>
          <a:prstGeom prst="rect">
            <a:avLst/>
          </a:prstGeom>
          <a:noFill/>
          <a:ln/>
        </p:spPr>
        <p:txBody>
          <a:bodyPr wrap="square" lIns="0" tIns="0" rIns="0" bIns="0" rtlCol="0" anchor="t"/>
          <a:lstStyle/>
          <a:p>
            <a:pPr marL="0" indent="0" algn="l">
              <a:lnSpc>
                <a:spcPts val="2750"/>
              </a:lnSpc>
              <a:buNone/>
            </a:pPr>
            <a:r>
              <a:rPr lang="en-US" sz="1700" dirty="0">
                <a:solidFill>
                  <a:srgbClr val="405449"/>
                </a:solidFill>
                <a:latin typeface="Nobile" pitchFamily="34" charset="0"/>
                <a:ea typeface="Nobile" pitchFamily="34" charset="-122"/>
                <a:cs typeface="Nobile" pitchFamily="34" charset="-120"/>
              </a:rPr>
              <a:t>Golden Ratio mapping ensures optimal image distribution across the spherical surface.</a:t>
            </a:r>
            <a:endParaRPr lang="en-US" sz="1700" dirty="0"/>
          </a:p>
        </p:txBody>
      </p:sp>
      <p:sp>
        <p:nvSpPr>
          <p:cNvPr id="7" name="Shape 5"/>
          <p:cNvSpPr/>
          <p:nvPr/>
        </p:nvSpPr>
        <p:spPr>
          <a:xfrm>
            <a:off x="5204579" y="2577465"/>
            <a:ext cx="4221242" cy="4877514"/>
          </a:xfrm>
          <a:prstGeom prst="roundRect">
            <a:avLst>
              <a:gd name="adj" fmla="val 4659"/>
            </a:avLst>
          </a:prstGeom>
          <a:solidFill>
            <a:srgbClr val="E8F3E8"/>
          </a:solidFill>
          <a:ln/>
        </p:spPr>
      </p:sp>
      <p:sp>
        <p:nvSpPr>
          <p:cNvPr id="8" name="Text 6"/>
          <p:cNvSpPr/>
          <p:nvPr/>
        </p:nvSpPr>
        <p:spPr>
          <a:xfrm>
            <a:off x="5423059" y="2795945"/>
            <a:ext cx="3784283" cy="682704"/>
          </a:xfrm>
          <a:prstGeom prst="rect">
            <a:avLst/>
          </a:prstGeom>
          <a:noFill/>
          <a:ln/>
        </p:spPr>
        <p:txBody>
          <a:bodyPr wrap="square" lIns="0" tIns="0" rIns="0" bIns="0" rtlCol="0" anchor="t"/>
          <a:lstStyle/>
          <a:p>
            <a:pPr marL="0" indent="0" algn="l">
              <a:lnSpc>
                <a:spcPts val="2650"/>
              </a:lnSpc>
              <a:buNone/>
            </a:pPr>
            <a:r>
              <a:rPr lang="en-US" sz="2150" b="1" dirty="0">
                <a:solidFill>
                  <a:srgbClr val="405449"/>
                </a:solidFill>
                <a:latin typeface="Fraunces Extra Bold" pitchFamily="34" charset="0"/>
                <a:ea typeface="Fraunces Extra Bold" pitchFamily="34" charset="-122"/>
                <a:cs typeface="Fraunces Extra Bold" pitchFamily="34" charset="-120"/>
              </a:rPr>
              <a:t>Glassmorphism Design Language</a:t>
            </a:r>
            <a:endParaRPr lang="en-US" sz="2150" dirty="0"/>
          </a:p>
        </p:txBody>
      </p:sp>
      <p:sp>
        <p:nvSpPr>
          <p:cNvPr id="9" name="Text 7"/>
          <p:cNvSpPr/>
          <p:nvPr/>
        </p:nvSpPr>
        <p:spPr>
          <a:xfrm>
            <a:off x="5423059" y="3609737"/>
            <a:ext cx="3784283" cy="2446973"/>
          </a:xfrm>
          <a:prstGeom prst="rect">
            <a:avLst/>
          </a:prstGeom>
          <a:noFill/>
          <a:ln/>
        </p:spPr>
        <p:txBody>
          <a:bodyPr wrap="square" lIns="0" tIns="0" rIns="0" bIns="0" rtlCol="0" anchor="t"/>
          <a:lstStyle/>
          <a:p>
            <a:pPr marL="0" indent="0" algn="l">
              <a:lnSpc>
                <a:spcPts val="2750"/>
              </a:lnSpc>
              <a:buNone/>
            </a:pPr>
            <a:r>
              <a:rPr lang="en-US" sz="1700" dirty="0">
                <a:solidFill>
                  <a:srgbClr val="405449"/>
                </a:solidFill>
                <a:latin typeface="Nobile" pitchFamily="34" charset="0"/>
                <a:ea typeface="Nobile" pitchFamily="34" charset="-122"/>
                <a:cs typeface="Nobile" pitchFamily="34" charset="-120"/>
              </a:rPr>
              <a:t>A translucent, minimal aesthetic pervades the interface—from navigation bars to modal dialogs. This modern design approach creates depth while maintaining visual clarity, ensuring content remains the focal point.</a:t>
            </a:r>
            <a:endParaRPr lang="en-US" sz="1700" dirty="0"/>
          </a:p>
        </p:txBody>
      </p:sp>
      <p:sp>
        <p:nvSpPr>
          <p:cNvPr id="10" name="Text 8"/>
          <p:cNvSpPr/>
          <p:nvPr/>
        </p:nvSpPr>
        <p:spPr>
          <a:xfrm>
            <a:off x="5423059" y="6187797"/>
            <a:ext cx="3784283" cy="1048703"/>
          </a:xfrm>
          <a:prstGeom prst="rect">
            <a:avLst/>
          </a:prstGeom>
          <a:noFill/>
          <a:ln/>
        </p:spPr>
        <p:txBody>
          <a:bodyPr wrap="square" lIns="0" tIns="0" rIns="0" bIns="0" rtlCol="0" anchor="t"/>
          <a:lstStyle/>
          <a:p>
            <a:pPr marL="0" indent="0" algn="l">
              <a:lnSpc>
                <a:spcPts val="2750"/>
              </a:lnSpc>
              <a:buNone/>
            </a:pPr>
            <a:r>
              <a:rPr lang="en-US" sz="1700" dirty="0">
                <a:solidFill>
                  <a:srgbClr val="405449"/>
                </a:solidFill>
                <a:latin typeface="Nobile" pitchFamily="34" charset="0"/>
                <a:ea typeface="Nobile" pitchFamily="34" charset="-122"/>
                <a:cs typeface="Nobile" pitchFamily="34" charset="-120"/>
              </a:rPr>
              <a:t>The frosted-glass effect adds sophistication without compromising usability.</a:t>
            </a:r>
            <a:endParaRPr lang="en-US" sz="1700" dirty="0"/>
          </a:p>
        </p:txBody>
      </p:sp>
      <p:sp>
        <p:nvSpPr>
          <p:cNvPr id="11" name="Shape 9"/>
          <p:cNvSpPr/>
          <p:nvPr/>
        </p:nvSpPr>
        <p:spPr>
          <a:xfrm>
            <a:off x="9644301" y="2577465"/>
            <a:ext cx="4221242" cy="4877514"/>
          </a:xfrm>
          <a:prstGeom prst="roundRect">
            <a:avLst>
              <a:gd name="adj" fmla="val 4659"/>
            </a:avLst>
          </a:prstGeom>
          <a:solidFill>
            <a:srgbClr val="E8F3E8"/>
          </a:solidFill>
          <a:ln/>
        </p:spPr>
      </p:sp>
      <p:sp>
        <p:nvSpPr>
          <p:cNvPr id="12" name="Text 10"/>
          <p:cNvSpPr/>
          <p:nvPr/>
        </p:nvSpPr>
        <p:spPr>
          <a:xfrm>
            <a:off x="9862780" y="2795945"/>
            <a:ext cx="3784283" cy="682704"/>
          </a:xfrm>
          <a:prstGeom prst="rect">
            <a:avLst/>
          </a:prstGeom>
          <a:noFill/>
          <a:ln/>
        </p:spPr>
        <p:txBody>
          <a:bodyPr wrap="square" lIns="0" tIns="0" rIns="0" bIns="0" rtlCol="0" anchor="t"/>
          <a:lstStyle/>
          <a:p>
            <a:pPr marL="0" indent="0" algn="l">
              <a:lnSpc>
                <a:spcPts val="2650"/>
              </a:lnSpc>
              <a:buNone/>
            </a:pPr>
            <a:r>
              <a:rPr lang="en-US" sz="2150" b="1" dirty="0">
                <a:solidFill>
                  <a:srgbClr val="405449"/>
                </a:solidFill>
                <a:latin typeface="Fraunces Extra Bold" pitchFamily="34" charset="0"/>
                <a:ea typeface="Fraunces Extra Bold" pitchFamily="34" charset="-122"/>
                <a:cs typeface="Fraunces Extra Bold" pitchFamily="34" charset="-120"/>
              </a:rPr>
              <a:t>Responsive Masonry Gallery</a:t>
            </a:r>
            <a:endParaRPr lang="en-US" sz="2150" dirty="0"/>
          </a:p>
        </p:txBody>
      </p:sp>
      <p:sp>
        <p:nvSpPr>
          <p:cNvPr id="13" name="Text 11"/>
          <p:cNvSpPr/>
          <p:nvPr/>
        </p:nvSpPr>
        <p:spPr>
          <a:xfrm>
            <a:off x="9862780" y="3609737"/>
            <a:ext cx="3784283" cy="2097405"/>
          </a:xfrm>
          <a:prstGeom prst="rect">
            <a:avLst/>
          </a:prstGeom>
          <a:noFill/>
          <a:ln/>
        </p:spPr>
        <p:txBody>
          <a:bodyPr wrap="square" lIns="0" tIns="0" rIns="0" bIns="0" rtlCol="0" anchor="t"/>
          <a:lstStyle/>
          <a:p>
            <a:pPr marL="0" indent="0" algn="l">
              <a:lnSpc>
                <a:spcPts val="2750"/>
              </a:lnSpc>
              <a:buNone/>
            </a:pPr>
            <a:r>
              <a:rPr lang="en-US" sz="1700" dirty="0">
                <a:solidFill>
                  <a:srgbClr val="405449"/>
                </a:solidFill>
                <a:latin typeface="Nobile" pitchFamily="34" charset="0"/>
                <a:ea typeface="Nobile" pitchFamily="34" charset="-122"/>
                <a:cs typeface="Nobile" pitchFamily="34" charset="-120"/>
              </a:rPr>
              <a:t>The fluid Masonry layout adapts seamlessly across devices, from desktop monitors to mobile screens. Dynamic grid calculations ensure optimal viewing experiences regardless of viewport dimensions.</a:t>
            </a:r>
            <a:endParaRPr lang="en-US" sz="1700" dirty="0"/>
          </a:p>
        </p:txBody>
      </p:sp>
      <p:sp>
        <p:nvSpPr>
          <p:cNvPr id="14" name="Text 12"/>
          <p:cNvSpPr/>
          <p:nvPr/>
        </p:nvSpPr>
        <p:spPr>
          <a:xfrm>
            <a:off x="9862780" y="5838230"/>
            <a:ext cx="3784283" cy="1048703"/>
          </a:xfrm>
          <a:prstGeom prst="rect">
            <a:avLst/>
          </a:prstGeom>
          <a:noFill/>
          <a:ln/>
        </p:spPr>
        <p:txBody>
          <a:bodyPr wrap="square" lIns="0" tIns="0" rIns="0" bIns="0" rtlCol="0" anchor="t"/>
          <a:lstStyle/>
          <a:p>
            <a:pPr marL="0" indent="0" algn="l">
              <a:lnSpc>
                <a:spcPts val="2750"/>
              </a:lnSpc>
              <a:buNone/>
            </a:pPr>
            <a:r>
              <a:rPr lang="en-US" sz="1700" dirty="0">
                <a:solidFill>
                  <a:srgbClr val="405449"/>
                </a:solidFill>
                <a:latin typeface="Nobile" pitchFamily="34" charset="0"/>
                <a:ea typeface="Nobile" pitchFamily="34" charset="-122"/>
                <a:cs typeface="Nobile" pitchFamily="34" charset="-120"/>
              </a:rPr>
              <a:t>Images reflow intelligently, maintaining visual harmony at every breakpoint.</a:t>
            </a:r>
            <a:endParaRPr lang="en-US" sz="1700" dirty="0"/>
          </a:p>
        </p:txBody>
      </p:sp>
      <p:sp>
        <p:nvSpPr>
          <p:cNvPr id="15" name="Rectangle 14">
            <a:extLst>
              <a:ext uri="{FF2B5EF4-FFF2-40B4-BE49-F238E27FC236}">
                <a16:creationId xmlns:a16="http://schemas.microsoft.com/office/drawing/2014/main" id="{0F6407BB-AB91-0DCF-C1BE-7503A586F040}"/>
              </a:ext>
            </a:extLst>
          </p:cNvPr>
          <p:cNvSpPr/>
          <p:nvPr/>
        </p:nvSpPr>
        <p:spPr>
          <a:xfrm>
            <a:off x="12754466" y="7758260"/>
            <a:ext cx="1800520" cy="377072"/>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1747" y="505063"/>
            <a:ext cx="11131629" cy="572929"/>
          </a:xfrm>
          <a:prstGeom prst="rect">
            <a:avLst/>
          </a:prstGeom>
          <a:noFill/>
          <a:ln/>
        </p:spPr>
        <p:txBody>
          <a:bodyPr wrap="none" lIns="0" tIns="0" rIns="0" bIns="0" rtlCol="0" anchor="t"/>
          <a:lstStyle/>
          <a:p>
            <a:pPr marL="0" indent="0" algn="l">
              <a:lnSpc>
                <a:spcPts val="4500"/>
              </a:lnSpc>
              <a:buNone/>
            </a:pPr>
            <a:r>
              <a:rPr lang="en-US" sz="3600" b="1" dirty="0">
                <a:solidFill>
                  <a:srgbClr val="3B4540"/>
                </a:solidFill>
                <a:latin typeface="Fraunces Extra Bold" pitchFamily="34" charset="0"/>
                <a:ea typeface="Fraunces Extra Bold" pitchFamily="34" charset="-122"/>
                <a:cs typeface="Fraunces Extra Bold" pitchFamily="34" charset="-120"/>
              </a:rPr>
              <a:t>The AI Core: Automated Tagging via Gemini API</a:t>
            </a:r>
            <a:endParaRPr lang="en-US" sz="3600" dirty="0"/>
          </a:p>
        </p:txBody>
      </p:sp>
      <p:sp>
        <p:nvSpPr>
          <p:cNvPr id="3" name="Text 1"/>
          <p:cNvSpPr/>
          <p:nvPr/>
        </p:nvSpPr>
        <p:spPr>
          <a:xfrm>
            <a:off x="641747" y="1353026"/>
            <a:ext cx="5663327" cy="343733"/>
          </a:xfrm>
          <a:prstGeom prst="rect">
            <a:avLst/>
          </a:prstGeom>
          <a:noFill/>
          <a:ln/>
        </p:spPr>
        <p:txBody>
          <a:bodyPr wrap="none" lIns="0" tIns="0" rIns="0" bIns="0" rtlCol="0" anchor="t"/>
          <a:lstStyle/>
          <a:p>
            <a:pPr marL="0" indent="0" algn="l">
              <a:lnSpc>
                <a:spcPts val="2700"/>
              </a:lnSpc>
              <a:buNone/>
            </a:pPr>
            <a:r>
              <a:rPr lang="en-US" sz="2150" b="1" dirty="0">
                <a:solidFill>
                  <a:srgbClr val="3B4540"/>
                </a:solidFill>
                <a:latin typeface="Fraunces Extra Bold" pitchFamily="34" charset="0"/>
                <a:ea typeface="Fraunces Extra Bold" pitchFamily="34" charset="-122"/>
                <a:cs typeface="Fraunces Extra Bold" pitchFamily="34" charset="-120"/>
              </a:rPr>
              <a:t>Intelligent Content Management at Scale</a:t>
            </a:r>
            <a:endParaRPr lang="en-US" sz="2150" dirty="0"/>
          </a:p>
        </p:txBody>
      </p:sp>
      <p:sp>
        <p:nvSpPr>
          <p:cNvPr id="4" name="Text 2"/>
          <p:cNvSpPr/>
          <p:nvPr/>
        </p:nvSpPr>
        <p:spPr>
          <a:xfrm>
            <a:off x="641747" y="1971794"/>
            <a:ext cx="13346906" cy="586740"/>
          </a:xfrm>
          <a:prstGeom prst="rect">
            <a:avLst/>
          </a:prstGeom>
          <a:noFill/>
          <a:ln/>
        </p:spPr>
        <p:txBody>
          <a:bodyPr wrap="square" lIns="0" tIns="0" rIns="0" bIns="0" rtlCol="0" anchor="t"/>
          <a:lstStyle/>
          <a:p>
            <a:pPr marL="0" indent="0" algn="l">
              <a:lnSpc>
                <a:spcPts val="2300"/>
              </a:lnSpc>
              <a:buNone/>
            </a:pPr>
            <a:r>
              <a:rPr lang="en-US" sz="1400" dirty="0">
                <a:solidFill>
                  <a:srgbClr val="405449"/>
                </a:solidFill>
                <a:latin typeface="Nobile" pitchFamily="34" charset="0"/>
                <a:ea typeface="Nobile" pitchFamily="34" charset="-122"/>
                <a:cs typeface="Nobile" pitchFamily="34" charset="-120"/>
              </a:rPr>
              <a:t>The Gemini API serves as the intelligence layer for automated content seeding and metadata generation. When new images are uploaded, the PHP script (seed_images.php) leverages Gemini's multi-modal capabilities to analyze visual content comprehensively.</a:t>
            </a:r>
            <a:endParaRPr lang="en-US" sz="1400" dirty="0"/>
          </a:p>
        </p:txBody>
      </p:sp>
      <p:pic>
        <p:nvPicPr>
          <p:cNvPr id="5" name="Image 0" descr="preencoded.png"/>
          <p:cNvPicPr>
            <a:picLocks noChangeAspect="1"/>
          </p:cNvPicPr>
          <p:nvPr/>
        </p:nvPicPr>
        <p:blipFill>
          <a:blip r:embed="rId3"/>
          <a:stretch>
            <a:fillRect/>
          </a:stretch>
        </p:blipFill>
        <p:spPr>
          <a:xfrm>
            <a:off x="641747" y="2764750"/>
            <a:ext cx="6673453" cy="733425"/>
          </a:xfrm>
          <a:prstGeom prst="rect">
            <a:avLst/>
          </a:prstGeom>
        </p:spPr>
      </p:pic>
      <p:sp>
        <p:nvSpPr>
          <p:cNvPr id="6" name="Text 3"/>
          <p:cNvSpPr/>
          <p:nvPr/>
        </p:nvSpPr>
        <p:spPr>
          <a:xfrm>
            <a:off x="825103" y="3681532"/>
            <a:ext cx="2292072" cy="286464"/>
          </a:xfrm>
          <a:prstGeom prst="rect">
            <a:avLst/>
          </a:prstGeom>
          <a:noFill/>
          <a:ln/>
        </p:spPr>
        <p:txBody>
          <a:bodyPr wrap="none" lIns="0" tIns="0" rIns="0" bIns="0" rtlCol="0" anchor="t"/>
          <a:lstStyle/>
          <a:p>
            <a:pPr marL="0" indent="0" algn="l">
              <a:lnSpc>
                <a:spcPts val="2250"/>
              </a:lnSpc>
              <a:buNone/>
            </a:pPr>
            <a:r>
              <a:rPr lang="en-US" sz="1800" b="1" dirty="0">
                <a:solidFill>
                  <a:srgbClr val="405449"/>
                </a:solidFill>
                <a:latin typeface="Fraunces Extra Bold" pitchFamily="34" charset="0"/>
                <a:ea typeface="Fraunces Extra Bold" pitchFamily="34" charset="-122"/>
                <a:cs typeface="Fraunces Extra Bold" pitchFamily="34" charset="-120"/>
              </a:rPr>
              <a:t>Image Upload</a:t>
            </a:r>
            <a:endParaRPr lang="en-US" sz="1800" dirty="0"/>
          </a:p>
        </p:txBody>
      </p:sp>
      <p:sp>
        <p:nvSpPr>
          <p:cNvPr id="7" name="Text 4"/>
          <p:cNvSpPr/>
          <p:nvPr/>
        </p:nvSpPr>
        <p:spPr>
          <a:xfrm>
            <a:off x="825103" y="4078010"/>
            <a:ext cx="6306741" cy="293370"/>
          </a:xfrm>
          <a:prstGeom prst="rect">
            <a:avLst/>
          </a:prstGeom>
          <a:noFill/>
          <a:ln/>
        </p:spPr>
        <p:txBody>
          <a:bodyPr wrap="none" lIns="0" tIns="0" rIns="0" bIns="0" rtlCol="0" anchor="t"/>
          <a:lstStyle/>
          <a:p>
            <a:pPr marL="0" indent="0" algn="l">
              <a:lnSpc>
                <a:spcPts val="2300"/>
              </a:lnSpc>
              <a:buNone/>
            </a:pPr>
            <a:r>
              <a:rPr lang="en-US" sz="1400" dirty="0">
                <a:solidFill>
                  <a:srgbClr val="405449"/>
                </a:solidFill>
                <a:latin typeface="Nobile" pitchFamily="34" charset="0"/>
                <a:ea typeface="Nobile" pitchFamily="34" charset="-122"/>
                <a:cs typeface="Nobile" pitchFamily="34" charset="-120"/>
              </a:rPr>
              <a:t>New wallpapers enter the system through the upload interface</a:t>
            </a:r>
            <a:endParaRPr lang="en-US" sz="1400" dirty="0"/>
          </a:p>
        </p:txBody>
      </p:sp>
      <p:pic>
        <p:nvPicPr>
          <p:cNvPr id="8" name="Image 1" descr="preencoded.png"/>
          <p:cNvPicPr>
            <a:picLocks noChangeAspect="1"/>
          </p:cNvPicPr>
          <p:nvPr/>
        </p:nvPicPr>
        <p:blipFill>
          <a:blip r:embed="rId4"/>
          <a:stretch>
            <a:fillRect/>
          </a:stretch>
        </p:blipFill>
        <p:spPr>
          <a:xfrm>
            <a:off x="7315200" y="2764750"/>
            <a:ext cx="6673453" cy="733425"/>
          </a:xfrm>
          <a:prstGeom prst="rect">
            <a:avLst/>
          </a:prstGeom>
        </p:spPr>
      </p:pic>
      <p:sp>
        <p:nvSpPr>
          <p:cNvPr id="9" name="Text 5"/>
          <p:cNvSpPr/>
          <p:nvPr/>
        </p:nvSpPr>
        <p:spPr>
          <a:xfrm>
            <a:off x="7498556" y="3681532"/>
            <a:ext cx="2292072" cy="286464"/>
          </a:xfrm>
          <a:prstGeom prst="rect">
            <a:avLst/>
          </a:prstGeom>
          <a:noFill/>
          <a:ln/>
        </p:spPr>
        <p:txBody>
          <a:bodyPr wrap="none" lIns="0" tIns="0" rIns="0" bIns="0" rtlCol="0" anchor="t"/>
          <a:lstStyle/>
          <a:p>
            <a:pPr marL="0" indent="0" algn="l">
              <a:lnSpc>
                <a:spcPts val="2250"/>
              </a:lnSpc>
              <a:buNone/>
            </a:pPr>
            <a:r>
              <a:rPr lang="en-US" sz="1800" b="1" dirty="0">
                <a:solidFill>
                  <a:srgbClr val="405449"/>
                </a:solidFill>
                <a:latin typeface="Fraunces Extra Bold" pitchFamily="34" charset="0"/>
                <a:ea typeface="Fraunces Extra Bold" pitchFamily="34" charset="-122"/>
                <a:cs typeface="Fraunces Extra Bold" pitchFamily="34" charset="-120"/>
              </a:rPr>
              <a:t>Gemini Analysis</a:t>
            </a:r>
            <a:endParaRPr lang="en-US" sz="1800" dirty="0"/>
          </a:p>
        </p:txBody>
      </p:sp>
      <p:sp>
        <p:nvSpPr>
          <p:cNvPr id="10" name="Text 6"/>
          <p:cNvSpPr/>
          <p:nvPr/>
        </p:nvSpPr>
        <p:spPr>
          <a:xfrm>
            <a:off x="7498556" y="4078010"/>
            <a:ext cx="6306741" cy="586740"/>
          </a:xfrm>
          <a:prstGeom prst="rect">
            <a:avLst/>
          </a:prstGeom>
          <a:noFill/>
          <a:ln/>
        </p:spPr>
        <p:txBody>
          <a:bodyPr wrap="square" lIns="0" tIns="0" rIns="0" bIns="0" rtlCol="0" anchor="t"/>
          <a:lstStyle/>
          <a:p>
            <a:pPr marL="0" indent="0" algn="l">
              <a:lnSpc>
                <a:spcPts val="2300"/>
              </a:lnSpc>
              <a:buNone/>
            </a:pPr>
            <a:r>
              <a:rPr lang="en-US" sz="1400" dirty="0">
                <a:solidFill>
                  <a:srgbClr val="405449"/>
                </a:solidFill>
                <a:latin typeface="Nobile" pitchFamily="34" charset="0"/>
                <a:ea typeface="Nobile" pitchFamily="34" charset="-122"/>
                <a:cs typeface="Nobile" pitchFamily="34" charset="-120"/>
              </a:rPr>
              <a:t>AI processes visual data, identifying themes, colors, subjects, and artistic styles</a:t>
            </a:r>
            <a:endParaRPr lang="en-US" sz="1400" dirty="0"/>
          </a:p>
        </p:txBody>
      </p:sp>
      <p:pic>
        <p:nvPicPr>
          <p:cNvPr id="11" name="Image 2" descr="preencoded.png"/>
          <p:cNvPicPr>
            <a:picLocks noChangeAspect="1"/>
          </p:cNvPicPr>
          <p:nvPr/>
        </p:nvPicPr>
        <p:blipFill>
          <a:blip r:embed="rId5"/>
          <a:stretch>
            <a:fillRect/>
          </a:stretch>
        </p:blipFill>
        <p:spPr>
          <a:xfrm>
            <a:off x="641747" y="4848106"/>
            <a:ext cx="6673453" cy="733425"/>
          </a:xfrm>
          <a:prstGeom prst="rect">
            <a:avLst/>
          </a:prstGeom>
        </p:spPr>
      </p:pic>
      <p:sp>
        <p:nvSpPr>
          <p:cNvPr id="12" name="Text 7"/>
          <p:cNvSpPr/>
          <p:nvPr/>
        </p:nvSpPr>
        <p:spPr>
          <a:xfrm>
            <a:off x="825103" y="5764887"/>
            <a:ext cx="2292072" cy="286464"/>
          </a:xfrm>
          <a:prstGeom prst="rect">
            <a:avLst/>
          </a:prstGeom>
          <a:noFill/>
          <a:ln/>
        </p:spPr>
        <p:txBody>
          <a:bodyPr wrap="none" lIns="0" tIns="0" rIns="0" bIns="0" rtlCol="0" anchor="t"/>
          <a:lstStyle/>
          <a:p>
            <a:pPr marL="0" indent="0" algn="l">
              <a:lnSpc>
                <a:spcPts val="2250"/>
              </a:lnSpc>
              <a:buNone/>
            </a:pPr>
            <a:r>
              <a:rPr lang="en-US" sz="1800" b="1" dirty="0">
                <a:solidFill>
                  <a:srgbClr val="405449"/>
                </a:solidFill>
                <a:latin typeface="Fraunces Extra Bold" pitchFamily="34" charset="0"/>
                <a:ea typeface="Fraunces Extra Bold" pitchFamily="34" charset="-122"/>
                <a:cs typeface="Fraunces Extra Bold" pitchFamily="34" charset="-120"/>
              </a:rPr>
              <a:t>Tag Generation</a:t>
            </a:r>
            <a:endParaRPr lang="en-US" sz="1800" dirty="0"/>
          </a:p>
        </p:txBody>
      </p:sp>
      <p:sp>
        <p:nvSpPr>
          <p:cNvPr id="13" name="Text 8"/>
          <p:cNvSpPr/>
          <p:nvPr/>
        </p:nvSpPr>
        <p:spPr>
          <a:xfrm>
            <a:off x="825103" y="6161365"/>
            <a:ext cx="6306741" cy="586740"/>
          </a:xfrm>
          <a:prstGeom prst="rect">
            <a:avLst/>
          </a:prstGeom>
          <a:noFill/>
          <a:ln/>
        </p:spPr>
        <p:txBody>
          <a:bodyPr wrap="square" lIns="0" tIns="0" rIns="0" bIns="0" rtlCol="0" anchor="t"/>
          <a:lstStyle/>
          <a:p>
            <a:pPr marL="0" indent="0" algn="l">
              <a:lnSpc>
                <a:spcPts val="2300"/>
              </a:lnSpc>
              <a:buNone/>
            </a:pPr>
            <a:r>
              <a:rPr lang="en-US" sz="1400" dirty="0">
                <a:solidFill>
                  <a:srgbClr val="405449"/>
                </a:solidFill>
                <a:latin typeface="Nobile" pitchFamily="34" charset="0"/>
                <a:ea typeface="Nobile" pitchFamily="34" charset="-122"/>
                <a:cs typeface="Nobile" pitchFamily="34" charset="-120"/>
              </a:rPr>
              <a:t>Descriptive tags (e.g., "mountain, cyberpunk, abstract") and rich descriptions are automatically created</a:t>
            </a:r>
            <a:endParaRPr lang="en-US" sz="1400" dirty="0"/>
          </a:p>
        </p:txBody>
      </p:sp>
      <p:pic>
        <p:nvPicPr>
          <p:cNvPr id="14" name="Image 3" descr="preencoded.png"/>
          <p:cNvPicPr>
            <a:picLocks noChangeAspect="1"/>
          </p:cNvPicPr>
          <p:nvPr/>
        </p:nvPicPr>
        <p:blipFill>
          <a:blip r:embed="rId6"/>
          <a:stretch>
            <a:fillRect/>
          </a:stretch>
        </p:blipFill>
        <p:spPr>
          <a:xfrm>
            <a:off x="7315200" y="4848106"/>
            <a:ext cx="6673453" cy="733425"/>
          </a:xfrm>
          <a:prstGeom prst="rect">
            <a:avLst/>
          </a:prstGeom>
        </p:spPr>
      </p:pic>
      <p:sp>
        <p:nvSpPr>
          <p:cNvPr id="15" name="Text 9"/>
          <p:cNvSpPr/>
          <p:nvPr/>
        </p:nvSpPr>
        <p:spPr>
          <a:xfrm>
            <a:off x="7498556" y="5764887"/>
            <a:ext cx="2292072" cy="286464"/>
          </a:xfrm>
          <a:prstGeom prst="rect">
            <a:avLst/>
          </a:prstGeom>
          <a:noFill/>
          <a:ln/>
        </p:spPr>
        <p:txBody>
          <a:bodyPr wrap="none" lIns="0" tIns="0" rIns="0" bIns="0" rtlCol="0" anchor="t"/>
          <a:lstStyle/>
          <a:p>
            <a:pPr marL="0" indent="0" algn="l">
              <a:lnSpc>
                <a:spcPts val="2250"/>
              </a:lnSpc>
              <a:buNone/>
            </a:pPr>
            <a:r>
              <a:rPr lang="en-US" sz="1800" b="1" dirty="0">
                <a:solidFill>
                  <a:srgbClr val="405449"/>
                </a:solidFill>
                <a:latin typeface="Fraunces Extra Bold" pitchFamily="34" charset="0"/>
                <a:ea typeface="Fraunces Extra Bold" pitchFamily="34" charset="-122"/>
                <a:cs typeface="Fraunces Extra Bold" pitchFamily="34" charset="-120"/>
              </a:rPr>
              <a:t>Database Storage</a:t>
            </a:r>
            <a:endParaRPr lang="en-US" sz="1800" dirty="0"/>
          </a:p>
        </p:txBody>
      </p:sp>
      <p:sp>
        <p:nvSpPr>
          <p:cNvPr id="16" name="Text 10"/>
          <p:cNvSpPr/>
          <p:nvPr/>
        </p:nvSpPr>
        <p:spPr>
          <a:xfrm>
            <a:off x="7498556" y="6161365"/>
            <a:ext cx="6306741" cy="293370"/>
          </a:xfrm>
          <a:prstGeom prst="rect">
            <a:avLst/>
          </a:prstGeom>
          <a:noFill/>
          <a:ln/>
        </p:spPr>
        <p:txBody>
          <a:bodyPr wrap="none" lIns="0" tIns="0" rIns="0" bIns="0" rtlCol="0" anchor="t"/>
          <a:lstStyle/>
          <a:p>
            <a:pPr marL="0" indent="0" algn="l">
              <a:lnSpc>
                <a:spcPts val="2300"/>
              </a:lnSpc>
              <a:buNone/>
            </a:pPr>
            <a:r>
              <a:rPr lang="en-US" sz="1400" dirty="0">
                <a:solidFill>
                  <a:srgbClr val="405449"/>
                </a:solidFill>
                <a:latin typeface="Nobile" pitchFamily="34" charset="0"/>
                <a:ea typeface="Nobile" pitchFamily="34" charset="-122"/>
                <a:cs typeface="Nobile" pitchFamily="34" charset="-120"/>
              </a:rPr>
              <a:t>Metadata is indexed for powerful search and discovery</a:t>
            </a:r>
            <a:endParaRPr lang="en-US" sz="1400" dirty="0"/>
          </a:p>
        </p:txBody>
      </p:sp>
      <p:sp>
        <p:nvSpPr>
          <p:cNvPr id="17" name="Text 11"/>
          <p:cNvSpPr/>
          <p:nvPr/>
        </p:nvSpPr>
        <p:spPr>
          <a:xfrm>
            <a:off x="641747" y="7137678"/>
            <a:ext cx="13346906" cy="586740"/>
          </a:xfrm>
          <a:prstGeom prst="rect">
            <a:avLst/>
          </a:prstGeom>
          <a:noFill/>
          <a:ln/>
        </p:spPr>
        <p:txBody>
          <a:bodyPr wrap="square" lIns="0" tIns="0" rIns="0" bIns="0" rtlCol="0" anchor="t"/>
          <a:lstStyle/>
          <a:p>
            <a:pPr marL="0" indent="0" algn="l">
              <a:lnSpc>
                <a:spcPts val="2300"/>
              </a:lnSpc>
              <a:buNone/>
            </a:pPr>
            <a:r>
              <a:rPr lang="en-US" sz="1400" dirty="0">
                <a:solidFill>
                  <a:srgbClr val="405449"/>
                </a:solidFill>
                <a:latin typeface="Nobile" pitchFamily="34" charset="0"/>
                <a:ea typeface="Nobile" pitchFamily="34" charset="-122"/>
                <a:cs typeface="Nobile" pitchFamily="34" charset="-120"/>
              </a:rPr>
              <a:t>This automation enables scalable content ingestion while powering highly accurate AI-driven search functionality. Curators save hours of manual work, and users benefit from precise, intelligent content discovery.</a:t>
            </a:r>
            <a:endParaRPr lang="en-US" sz="1400" dirty="0"/>
          </a:p>
        </p:txBody>
      </p:sp>
      <p:sp>
        <p:nvSpPr>
          <p:cNvPr id="18" name="Rectangle 17">
            <a:extLst>
              <a:ext uri="{FF2B5EF4-FFF2-40B4-BE49-F238E27FC236}">
                <a16:creationId xmlns:a16="http://schemas.microsoft.com/office/drawing/2014/main" id="{AF96D481-3525-D0CF-1057-8E5659FC036F}"/>
              </a:ext>
            </a:extLst>
          </p:cNvPr>
          <p:cNvSpPr/>
          <p:nvPr/>
        </p:nvSpPr>
        <p:spPr>
          <a:xfrm>
            <a:off x="12754466" y="7758260"/>
            <a:ext cx="1800520" cy="377072"/>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56392" y="626864"/>
            <a:ext cx="11026497" cy="586026"/>
          </a:xfrm>
          <a:prstGeom prst="rect">
            <a:avLst/>
          </a:prstGeom>
          <a:noFill/>
          <a:ln/>
        </p:spPr>
        <p:txBody>
          <a:bodyPr wrap="none" lIns="0" tIns="0" rIns="0" bIns="0" rtlCol="0" anchor="t"/>
          <a:lstStyle/>
          <a:p>
            <a:pPr marL="0" indent="0" algn="l">
              <a:lnSpc>
                <a:spcPts val="4600"/>
              </a:lnSpc>
              <a:buNone/>
            </a:pPr>
            <a:r>
              <a:rPr lang="en-US" sz="3650" b="1" dirty="0">
                <a:solidFill>
                  <a:srgbClr val="3B4540"/>
                </a:solidFill>
                <a:latin typeface="Fraunces Extra Bold" pitchFamily="34" charset="0"/>
                <a:ea typeface="Fraunces Extra Bold" pitchFamily="34" charset="-122"/>
                <a:cs typeface="Fraunces Extra Bold" pitchFamily="34" charset="-120"/>
              </a:rPr>
              <a:t>Technical Architecture: Full-Stack Integration</a:t>
            </a:r>
            <a:endParaRPr lang="en-US" sz="3650" dirty="0"/>
          </a:p>
        </p:txBody>
      </p:sp>
      <p:sp>
        <p:nvSpPr>
          <p:cNvPr id="3" name="Shape 1"/>
          <p:cNvSpPr/>
          <p:nvPr/>
        </p:nvSpPr>
        <p:spPr>
          <a:xfrm>
            <a:off x="656392" y="1587937"/>
            <a:ext cx="1664613" cy="1080611"/>
          </a:xfrm>
          <a:prstGeom prst="roundRect">
            <a:avLst>
              <a:gd name="adj" fmla="val 15620"/>
            </a:avLst>
          </a:prstGeom>
          <a:solidFill>
            <a:srgbClr val="E8F3E8"/>
          </a:solidFill>
          <a:ln/>
        </p:spPr>
      </p:sp>
      <p:pic>
        <p:nvPicPr>
          <p:cNvPr id="4" name="Image 0" descr="preencoded.png"/>
          <p:cNvPicPr>
            <a:picLocks noChangeAspect="1"/>
          </p:cNvPicPr>
          <p:nvPr/>
        </p:nvPicPr>
        <p:blipFill>
          <a:blip r:embed="rId3"/>
          <a:stretch>
            <a:fillRect/>
          </a:stretch>
        </p:blipFill>
        <p:spPr>
          <a:xfrm>
            <a:off x="1356836" y="1963460"/>
            <a:ext cx="263723" cy="329565"/>
          </a:xfrm>
          <a:prstGeom prst="rect">
            <a:avLst/>
          </a:prstGeom>
        </p:spPr>
      </p:pic>
      <p:sp>
        <p:nvSpPr>
          <p:cNvPr id="5" name="Text 2"/>
          <p:cNvSpPr/>
          <p:nvPr/>
        </p:nvSpPr>
        <p:spPr>
          <a:xfrm>
            <a:off x="2508528" y="1775460"/>
            <a:ext cx="3000613" cy="293013"/>
          </a:xfrm>
          <a:prstGeom prst="rect">
            <a:avLst/>
          </a:prstGeom>
          <a:noFill/>
          <a:ln/>
        </p:spPr>
        <p:txBody>
          <a:bodyPr wrap="none" lIns="0" tIns="0" rIns="0" bIns="0" rtlCol="0" anchor="t"/>
          <a:lstStyle/>
          <a:p>
            <a:pPr marL="0" indent="0" algn="l">
              <a:lnSpc>
                <a:spcPts val="2300"/>
              </a:lnSpc>
              <a:buNone/>
            </a:pPr>
            <a:r>
              <a:rPr lang="en-US" sz="1800" b="1" dirty="0">
                <a:solidFill>
                  <a:srgbClr val="405449"/>
                </a:solidFill>
                <a:latin typeface="Fraunces Extra Bold" pitchFamily="34" charset="0"/>
                <a:ea typeface="Fraunces Extra Bold" pitchFamily="34" charset="-122"/>
                <a:cs typeface="Fraunces Extra Bold" pitchFamily="34" charset="-120"/>
              </a:rPr>
              <a:t>Data &amp; Intelligence Layer</a:t>
            </a:r>
            <a:endParaRPr lang="en-US" sz="1800" dirty="0"/>
          </a:p>
        </p:txBody>
      </p:sp>
      <p:sp>
        <p:nvSpPr>
          <p:cNvPr id="6" name="Text 3"/>
          <p:cNvSpPr/>
          <p:nvPr/>
        </p:nvSpPr>
        <p:spPr>
          <a:xfrm>
            <a:off x="2508528" y="2180987"/>
            <a:ext cx="9025057" cy="300038"/>
          </a:xfrm>
          <a:prstGeom prst="rect">
            <a:avLst/>
          </a:prstGeom>
          <a:noFill/>
          <a:ln/>
        </p:spPr>
        <p:txBody>
          <a:bodyPr wrap="none" lIns="0" tIns="0" rIns="0" bIns="0" rtlCol="0" anchor="t"/>
          <a:lstStyle/>
          <a:p>
            <a:pPr marL="0" indent="0" algn="l">
              <a:lnSpc>
                <a:spcPts val="2350"/>
              </a:lnSpc>
              <a:buNone/>
            </a:pPr>
            <a:r>
              <a:rPr lang="en-US" sz="1450" dirty="0">
                <a:solidFill>
                  <a:srgbClr val="405449"/>
                </a:solidFill>
                <a:latin typeface="Nobile" pitchFamily="34" charset="0"/>
                <a:ea typeface="Nobile" pitchFamily="34" charset="-122"/>
                <a:cs typeface="Nobile" pitchFamily="34" charset="-120"/>
              </a:rPr>
              <a:t>MySQL (vista_db) stores structured content while Gemini API provides cognitive analysis capabilities</a:t>
            </a:r>
            <a:endParaRPr lang="en-US" sz="1450" dirty="0"/>
          </a:p>
        </p:txBody>
      </p:sp>
      <p:sp>
        <p:nvSpPr>
          <p:cNvPr id="7" name="Shape 4"/>
          <p:cNvSpPr/>
          <p:nvPr/>
        </p:nvSpPr>
        <p:spPr>
          <a:xfrm>
            <a:off x="2414707" y="2659023"/>
            <a:ext cx="11465600" cy="11430"/>
          </a:xfrm>
          <a:prstGeom prst="roundRect">
            <a:avLst>
              <a:gd name="adj" fmla="val 1476744"/>
            </a:avLst>
          </a:prstGeom>
          <a:solidFill>
            <a:srgbClr val="CED9CE"/>
          </a:solidFill>
          <a:ln/>
        </p:spPr>
      </p:sp>
      <p:sp>
        <p:nvSpPr>
          <p:cNvPr id="8" name="Shape 5"/>
          <p:cNvSpPr/>
          <p:nvPr/>
        </p:nvSpPr>
        <p:spPr>
          <a:xfrm>
            <a:off x="656392" y="2762250"/>
            <a:ext cx="3329345" cy="1080611"/>
          </a:xfrm>
          <a:prstGeom prst="roundRect">
            <a:avLst>
              <a:gd name="adj" fmla="val 15620"/>
            </a:avLst>
          </a:prstGeom>
          <a:solidFill>
            <a:srgbClr val="E8F3E8"/>
          </a:solidFill>
          <a:ln/>
        </p:spPr>
      </p:sp>
      <p:pic>
        <p:nvPicPr>
          <p:cNvPr id="9" name="Image 1" descr="preencoded.png"/>
          <p:cNvPicPr>
            <a:picLocks noChangeAspect="1"/>
          </p:cNvPicPr>
          <p:nvPr/>
        </p:nvPicPr>
        <p:blipFill>
          <a:blip r:embed="rId4"/>
          <a:stretch>
            <a:fillRect/>
          </a:stretch>
        </p:blipFill>
        <p:spPr>
          <a:xfrm>
            <a:off x="2189202" y="3137773"/>
            <a:ext cx="263723" cy="329565"/>
          </a:xfrm>
          <a:prstGeom prst="rect">
            <a:avLst/>
          </a:prstGeom>
        </p:spPr>
      </p:pic>
      <p:sp>
        <p:nvSpPr>
          <p:cNvPr id="10" name="Text 6"/>
          <p:cNvSpPr/>
          <p:nvPr/>
        </p:nvSpPr>
        <p:spPr>
          <a:xfrm>
            <a:off x="4173260" y="2949773"/>
            <a:ext cx="2344222" cy="293013"/>
          </a:xfrm>
          <a:prstGeom prst="rect">
            <a:avLst/>
          </a:prstGeom>
          <a:noFill/>
          <a:ln/>
        </p:spPr>
        <p:txBody>
          <a:bodyPr wrap="none" lIns="0" tIns="0" rIns="0" bIns="0" rtlCol="0" anchor="t"/>
          <a:lstStyle/>
          <a:p>
            <a:pPr marL="0" indent="0" algn="l">
              <a:lnSpc>
                <a:spcPts val="2300"/>
              </a:lnSpc>
              <a:buNone/>
            </a:pPr>
            <a:r>
              <a:rPr lang="en-US" sz="1800" b="1" dirty="0">
                <a:solidFill>
                  <a:srgbClr val="405449"/>
                </a:solidFill>
                <a:latin typeface="Fraunces Extra Bold" pitchFamily="34" charset="0"/>
                <a:ea typeface="Fraunces Extra Bold" pitchFamily="34" charset="-122"/>
                <a:cs typeface="Fraunces Extra Bold" pitchFamily="34" charset="-120"/>
              </a:rPr>
              <a:t>Application Logic</a:t>
            </a:r>
            <a:endParaRPr lang="en-US" sz="1800" dirty="0"/>
          </a:p>
        </p:txBody>
      </p:sp>
      <p:sp>
        <p:nvSpPr>
          <p:cNvPr id="11" name="Text 7"/>
          <p:cNvSpPr/>
          <p:nvPr/>
        </p:nvSpPr>
        <p:spPr>
          <a:xfrm>
            <a:off x="4173260" y="3355300"/>
            <a:ext cx="9457134" cy="300038"/>
          </a:xfrm>
          <a:prstGeom prst="rect">
            <a:avLst/>
          </a:prstGeom>
          <a:noFill/>
          <a:ln/>
        </p:spPr>
        <p:txBody>
          <a:bodyPr wrap="none" lIns="0" tIns="0" rIns="0" bIns="0" rtlCol="0" anchor="t"/>
          <a:lstStyle/>
          <a:p>
            <a:pPr marL="0" indent="0" algn="l">
              <a:lnSpc>
                <a:spcPts val="2350"/>
              </a:lnSpc>
              <a:buNone/>
            </a:pPr>
            <a:r>
              <a:rPr lang="en-US" sz="1450" dirty="0">
                <a:solidFill>
                  <a:srgbClr val="405449"/>
                </a:solidFill>
                <a:latin typeface="Nobile" pitchFamily="34" charset="0"/>
                <a:ea typeface="Nobile" pitchFamily="34" charset="-122"/>
                <a:cs typeface="Nobile" pitchFamily="34" charset="-120"/>
              </a:rPr>
              <a:t>Custom PHP scripts (get_images.php, seed_images.php) handle data operations and API communication</a:t>
            </a:r>
            <a:endParaRPr lang="en-US" sz="1450" dirty="0"/>
          </a:p>
        </p:txBody>
      </p:sp>
      <p:sp>
        <p:nvSpPr>
          <p:cNvPr id="12" name="Shape 8"/>
          <p:cNvSpPr/>
          <p:nvPr/>
        </p:nvSpPr>
        <p:spPr>
          <a:xfrm>
            <a:off x="4079438" y="3833336"/>
            <a:ext cx="9800868" cy="11430"/>
          </a:xfrm>
          <a:prstGeom prst="roundRect">
            <a:avLst>
              <a:gd name="adj" fmla="val 1476744"/>
            </a:avLst>
          </a:prstGeom>
          <a:solidFill>
            <a:srgbClr val="CED9CE"/>
          </a:solidFill>
          <a:ln/>
        </p:spPr>
      </p:sp>
      <p:sp>
        <p:nvSpPr>
          <p:cNvPr id="13" name="Shape 9"/>
          <p:cNvSpPr/>
          <p:nvPr/>
        </p:nvSpPr>
        <p:spPr>
          <a:xfrm>
            <a:off x="656392" y="3936563"/>
            <a:ext cx="4994077" cy="1380649"/>
          </a:xfrm>
          <a:prstGeom prst="roundRect">
            <a:avLst>
              <a:gd name="adj" fmla="val 12226"/>
            </a:avLst>
          </a:prstGeom>
          <a:solidFill>
            <a:srgbClr val="E8F3E8"/>
          </a:solidFill>
          <a:ln/>
        </p:spPr>
      </p:sp>
      <p:pic>
        <p:nvPicPr>
          <p:cNvPr id="14" name="Image 2" descr="preencoded.png"/>
          <p:cNvPicPr>
            <a:picLocks noChangeAspect="1"/>
          </p:cNvPicPr>
          <p:nvPr/>
        </p:nvPicPr>
        <p:blipFill>
          <a:blip r:embed="rId5"/>
          <a:stretch>
            <a:fillRect/>
          </a:stretch>
        </p:blipFill>
        <p:spPr>
          <a:xfrm>
            <a:off x="3021568" y="4462105"/>
            <a:ext cx="263723" cy="329565"/>
          </a:xfrm>
          <a:prstGeom prst="rect">
            <a:avLst/>
          </a:prstGeom>
        </p:spPr>
      </p:pic>
      <p:sp>
        <p:nvSpPr>
          <p:cNvPr id="15" name="Text 10"/>
          <p:cNvSpPr/>
          <p:nvPr/>
        </p:nvSpPr>
        <p:spPr>
          <a:xfrm>
            <a:off x="5837992" y="4124087"/>
            <a:ext cx="2689384" cy="293013"/>
          </a:xfrm>
          <a:prstGeom prst="rect">
            <a:avLst/>
          </a:prstGeom>
          <a:noFill/>
          <a:ln/>
        </p:spPr>
        <p:txBody>
          <a:bodyPr wrap="none" lIns="0" tIns="0" rIns="0" bIns="0" rtlCol="0" anchor="t"/>
          <a:lstStyle/>
          <a:p>
            <a:pPr marL="0" indent="0" algn="l">
              <a:lnSpc>
                <a:spcPts val="2300"/>
              </a:lnSpc>
              <a:buNone/>
            </a:pPr>
            <a:r>
              <a:rPr lang="en-US" sz="1800" b="1" dirty="0">
                <a:solidFill>
                  <a:srgbClr val="405449"/>
                </a:solidFill>
                <a:latin typeface="Fraunces Extra Bold" pitchFamily="34" charset="0"/>
                <a:ea typeface="Fraunces Extra Bold" pitchFamily="34" charset="-122"/>
                <a:cs typeface="Fraunces Extra Bold" pitchFamily="34" charset="-120"/>
              </a:rPr>
              <a:t>Client-Side Processing</a:t>
            </a:r>
            <a:endParaRPr lang="en-US" sz="1800" dirty="0"/>
          </a:p>
        </p:txBody>
      </p:sp>
      <p:sp>
        <p:nvSpPr>
          <p:cNvPr id="16" name="Text 11"/>
          <p:cNvSpPr/>
          <p:nvPr/>
        </p:nvSpPr>
        <p:spPr>
          <a:xfrm>
            <a:off x="5837992" y="4529614"/>
            <a:ext cx="7948493" cy="600075"/>
          </a:xfrm>
          <a:prstGeom prst="rect">
            <a:avLst/>
          </a:prstGeom>
          <a:noFill/>
          <a:ln/>
        </p:spPr>
        <p:txBody>
          <a:bodyPr wrap="square" lIns="0" tIns="0" rIns="0" bIns="0" rtlCol="0" anchor="t"/>
          <a:lstStyle/>
          <a:p>
            <a:pPr marL="0" indent="0" algn="l">
              <a:lnSpc>
                <a:spcPts val="2350"/>
              </a:lnSpc>
              <a:buNone/>
            </a:pPr>
            <a:r>
              <a:rPr lang="en-US" sz="1450" dirty="0">
                <a:solidFill>
                  <a:srgbClr val="405449"/>
                </a:solidFill>
                <a:latin typeface="Nobile" pitchFamily="34" charset="0"/>
                <a:ea typeface="Nobile" pitchFamily="34" charset="-122"/>
                <a:cs typeface="Nobile" pitchFamily="34" charset="-120"/>
              </a:rPr>
              <a:t>JavaScript modules (main.js, gallery.js) manage user interactions, asynchronous data fetching, and dynamic rendering</a:t>
            </a:r>
            <a:endParaRPr lang="en-US" sz="1450" dirty="0"/>
          </a:p>
        </p:txBody>
      </p:sp>
      <p:sp>
        <p:nvSpPr>
          <p:cNvPr id="17" name="Shape 12"/>
          <p:cNvSpPr/>
          <p:nvPr/>
        </p:nvSpPr>
        <p:spPr>
          <a:xfrm>
            <a:off x="5744170" y="5307687"/>
            <a:ext cx="8136136" cy="11430"/>
          </a:xfrm>
          <a:prstGeom prst="roundRect">
            <a:avLst>
              <a:gd name="adj" fmla="val 1476744"/>
            </a:avLst>
          </a:prstGeom>
          <a:solidFill>
            <a:srgbClr val="CED9CE"/>
          </a:solidFill>
          <a:ln/>
        </p:spPr>
      </p:sp>
      <p:sp>
        <p:nvSpPr>
          <p:cNvPr id="18" name="Shape 13"/>
          <p:cNvSpPr/>
          <p:nvPr/>
        </p:nvSpPr>
        <p:spPr>
          <a:xfrm>
            <a:off x="656392" y="5410914"/>
            <a:ext cx="6658808" cy="1380649"/>
          </a:xfrm>
          <a:prstGeom prst="roundRect">
            <a:avLst>
              <a:gd name="adj" fmla="val 12226"/>
            </a:avLst>
          </a:prstGeom>
          <a:solidFill>
            <a:srgbClr val="E8F3E8"/>
          </a:solidFill>
          <a:ln/>
        </p:spPr>
      </p:sp>
      <p:pic>
        <p:nvPicPr>
          <p:cNvPr id="19" name="Image 3" descr="preencoded.png"/>
          <p:cNvPicPr>
            <a:picLocks noChangeAspect="1"/>
          </p:cNvPicPr>
          <p:nvPr/>
        </p:nvPicPr>
        <p:blipFill>
          <a:blip r:embed="rId6"/>
          <a:stretch>
            <a:fillRect/>
          </a:stretch>
        </p:blipFill>
        <p:spPr>
          <a:xfrm>
            <a:off x="3853934" y="5936456"/>
            <a:ext cx="263723" cy="329565"/>
          </a:xfrm>
          <a:prstGeom prst="rect">
            <a:avLst/>
          </a:prstGeom>
        </p:spPr>
      </p:pic>
      <p:sp>
        <p:nvSpPr>
          <p:cNvPr id="20" name="Text 14"/>
          <p:cNvSpPr/>
          <p:nvPr/>
        </p:nvSpPr>
        <p:spPr>
          <a:xfrm>
            <a:off x="7502723" y="5598438"/>
            <a:ext cx="2344222" cy="293013"/>
          </a:xfrm>
          <a:prstGeom prst="rect">
            <a:avLst/>
          </a:prstGeom>
          <a:noFill/>
          <a:ln/>
        </p:spPr>
        <p:txBody>
          <a:bodyPr wrap="none" lIns="0" tIns="0" rIns="0" bIns="0" rtlCol="0" anchor="t"/>
          <a:lstStyle/>
          <a:p>
            <a:pPr marL="0" indent="0" algn="l">
              <a:lnSpc>
                <a:spcPts val="2300"/>
              </a:lnSpc>
              <a:buNone/>
            </a:pPr>
            <a:r>
              <a:rPr lang="en-US" sz="1800" b="1" dirty="0">
                <a:solidFill>
                  <a:srgbClr val="405449"/>
                </a:solidFill>
                <a:latin typeface="Fraunces Extra Bold" pitchFamily="34" charset="0"/>
                <a:ea typeface="Fraunces Extra Bold" pitchFamily="34" charset="-122"/>
                <a:cs typeface="Fraunces Extra Bold" pitchFamily="34" charset="-120"/>
              </a:rPr>
              <a:t>Presentation Layer</a:t>
            </a:r>
            <a:endParaRPr lang="en-US" sz="1800" dirty="0"/>
          </a:p>
        </p:txBody>
      </p:sp>
      <p:sp>
        <p:nvSpPr>
          <p:cNvPr id="21" name="Text 15"/>
          <p:cNvSpPr/>
          <p:nvPr/>
        </p:nvSpPr>
        <p:spPr>
          <a:xfrm>
            <a:off x="7502723" y="6003965"/>
            <a:ext cx="6283762" cy="600075"/>
          </a:xfrm>
          <a:prstGeom prst="rect">
            <a:avLst/>
          </a:prstGeom>
          <a:noFill/>
          <a:ln/>
        </p:spPr>
        <p:txBody>
          <a:bodyPr wrap="square" lIns="0" tIns="0" rIns="0" bIns="0" rtlCol="0" anchor="t"/>
          <a:lstStyle/>
          <a:p>
            <a:pPr marL="0" indent="0" algn="l">
              <a:lnSpc>
                <a:spcPts val="2350"/>
              </a:lnSpc>
              <a:buNone/>
            </a:pPr>
            <a:r>
              <a:rPr lang="en-US" sz="1450" dirty="0">
                <a:solidFill>
                  <a:srgbClr val="405449"/>
                </a:solidFill>
                <a:latin typeface="Nobile" pitchFamily="34" charset="0"/>
                <a:ea typeface="Nobile" pitchFamily="34" charset="-122"/>
                <a:cs typeface="Nobile" pitchFamily="34" charset="-120"/>
              </a:rPr>
              <a:t>HTML/CSS foundation enhanced with Three.js for immersive 3D visualization and responsive design</a:t>
            </a:r>
            <a:endParaRPr lang="en-US" sz="1450" dirty="0"/>
          </a:p>
        </p:txBody>
      </p:sp>
      <p:sp>
        <p:nvSpPr>
          <p:cNvPr id="22" name="Text 16"/>
          <p:cNvSpPr/>
          <p:nvPr/>
        </p:nvSpPr>
        <p:spPr>
          <a:xfrm>
            <a:off x="656392" y="7002542"/>
            <a:ext cx="13317617" cy="600075"/>
          </a:xfrm>
          <a:prstGeom prst="rect">
            <a:avLst/>
          </a:prstGeom>
          <a:noFill/>
          <a:ln/>
        </p:spPr>
        <p:txBody>
          <a:bodyPr wrap="square" lIns="0" tIns="0" rIns="0" bIns="0" rtlCol="0" anchor="t"/>
          <a:lstStyle/>
          <a:p>
            <a:pPr marL="0" indent="0" algn="l">
              <a:lnSpc>
                <a:spcPts val="2350"/>
              </a:lnSpc>
              <a:buNone/>
            </a:pPr>
            <a:r>
              <a:rPr lang="en-US" sz="1450" dirty="0">
                <a:solidFill>
                  <a:srgbClr val="405449"/>
                </a:solidFill>
                <a:latin typeface="Nobile" pitchFamily="34" charset="0"/>
                <a:ea typeface="Nobile" pitchFamily="34" charset="-122"/>
                <a:cs typeface="Nobile" pitchFamily="34" charset="-120"/>
              </a:rPr>
              <a:t>This layered architecture separates concerns while enabling seamless communication between components. The integration of external AI services with traditional LAMP stack technologies demonstrates modern full-stack development practices.</a:t>
            </a:r>
            <a:endParaRPr lang="en-US" sz="1450" dirty="0"/>
          </a:p>
        </p:txBody>
      </p:sp>
      <p:sp>
        <p:nvSpPr>
          <p:cNvPr id="23" name="Rectangle 22">
            <a:extLst>
              <a:ext uri="{FF2B5EF4-FFF2-40B4-BE49-F238E27FC236}">
                <a16:creationId xmlns:a16="http://schemas.microsoft.com/office/drawing/2014/main" id="{36076286-F872-1B8A-F9C6-9DF4E1D4E751}"/>
              </a:ext>
            </a:extLst>
          </p:cNvPr>
          <p:cNvSpPr/>
          <p:nvPr/>
        </p:nvSpPr>
        <p:spPr>
          <a:xfrm>
            <a:off x="12754466" y="7758260"/>
            <a:ext cx="1800520" cy="377072"/>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89503" y="620316"/>
            <a:ext cx="12968168" cy="704850"/>
          </a:xfrm>
          <a:prstGeom prst="rect">
            <a:avLst/>
          </a:prstGeom>
          <a:noFill/>
          <a:ln/>
        </p:spPr>
        <p:txBody>
          <a:bodyPr wrap="none" lIns="0" tIns="0" rIns="0" bIns="0" rtlCol="0" anchor="t"/>
          <a:lstStyle/>
          <a:p>
            <a:pPr marL="0" indent="0" algn="l">
              <a:lnSpc>
                <a:spcPts val="5550"/>
              </a:lnSpc>
              <a:buNone/>
            </a:pPr>
            <a:r>
              <a:rPr lang="en-US" sz="4400" b="1" dirty="0">
                <a:solidFill>
                  <a:srgbClr val="3B4540"/>
                </a:solidFill>
                <a:latin typeface="Fraunces Extra Bold" pitchFamily="34" charset="0"/>
                <a:ea typeface="Fraunces Extra Bold" pitchFamily="34" charset="-122"/>
                <a:cs typeface="Fraunces Extra Bold" pitchFamily="34" charset="-120"/>
              </a:rPr>
              <a:t>Implementation Deep Dive: Key Technologies</a:t>
            </a:r>
            <a:endParaRPr lang="en-US" sz="4400" dirty="0"/>
          </a:p>
        </p:txBody>
      </p:sp>
      <p:sp>
        <p:nvSpPr>
          <p:cNvPr id="3" name="Shape 1"/>
          <p:cNvSpPr/>
          <p:nvPr/>
        </p:nvSpPr>
        <p:spPr>
          <a:xfrm>
            <a:off x="789503" y="1776293"/>
            <a:ext cx="6412944" cy="2804636"/>
          </a:xfrm>
          <a:prstGeom prst="roundRect">
            <a:avLst>
              <a:gd name="adj" fmla="val 5217"/>
            </a:avLst>
          </a:prstGeom>
          <a:solidFill>
            <a:srgbClr val="FAFFFA"/>
          </a:solidFill>
          <a:ln w="30480">
            <a:solidFill>
              <a:srgbClr val="CED9CE"/>
            </a:solidFill>
            <a:prstDash val="solid"/>
          </a:ln>
        </p:spPr>
      </p:sp>
      <p:sp>
        <p:nvSpPr>
          <p:cNvPr id="4" name="Shape 2"/>
          <p:cNvSpPr/>
          <p:nvPr/>
        </p:nvSpPr>
        <p:spPr>
          <a:xfrm>
            <a:off x="759023" y="1776293"/>
            <a:ext cx="121920" cy="2804636"/>
          </a:xfrm>
          <a:prstGeom prst="roundRect">
            <a:avLst>
              <a:gd name="adj" fmla="val 166517"/>
            </a:avLst>
          </a:prstGeom>
          <a:solidFill>
            <a:srgbClr val="438951"/>
          </a:solidFill>
          <a:ln/>
        </p:spPr>
      </p:sp>
      <p:sp>
        <p:nvSpPr>
          <p:cNvPr id="5" name="Text 3"/>
          <p:cNvSpPr/>
          <p:nvPr/>
        </p:nvSpPr>
        <p:spPr>
          <a:xfrm>
            <a:off x="1136928" y="2032278"/>
            <a:ext cx="2954417" cy="352425"/>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Backend Foundation</a:t>
            </a:r>
            <a:endParaRPr lang="en-US" sz="2200" dirty="0"/>
          </a:p>
        </p:txBody>
      </p:sp>
      <p:sp>
        <p:nvSpPr>
          <p:cNvPr id="6" name="Text 4"/>
          <p:cNvSpPr/>
          <p:nvPr/>
        </p:nvSpPr>
        <p:spPr>
          <a:xfrm>
            <a:off x="1136928" y="2519958"/>
            <a:ext cx="5809536" cy="1804988"/>
          </a:xfrm>
          <a:prstGeom prst="rect">
            <a:avLst/>
          </a:prstGeom>
          <a:noFill/>
          <a:ln/>
        </p:spPr>
        <p:txBody>
          <a:bodyPr wrap="square" lIns="0" tIns="0" rIns="0" bIns="0" rtlCol="0" anchor="t"/>
          <a:lstStyle/>
          <a:p>
            <a:pPr marL="0" indent="0" algn="l">
              <a:lnSpc>
                <a:spcPts val="2800"/>
              </a:lnSpc>
              <a:buNone/>
            </a:pPr>
            <a:r>
              <a:rPr lang="en-US" sz="1750" dirty="0">
                <a:solidFill>
                  <a:srgbClr val="405449"/>
                </a:solidFill>
                <a:latin typeface="Nobile" pitchFamily="34" charset="0"/>
                <a:ea typeface="Nobile" pitchFamily="34" charset="-122"/>
                <a:cs typeface="Nobile" pitchFamily="34" charset="-120"/>
              </a:rPr>
              <a:t>PHP and MySQL provide robust server-side logic for dynamic data retrieval, storage operations, and API orchestration. The relational database structure enables efficient querying and relationship management between images, tags, and metadata.</a:t>
            </a:r>
            <a:endParaRPr lang="en-US" sz="1750" dirty="0"/>
          </a:p>
        </p:txBody>
      </p:sp>
      <p:sp>
        <p:nvSpPr>
          <p:cNvPr id="7" name="Shape 5"/>
          <p:cNvSpPr/>
          <p:nvPr/>
        </p:nvSpPr>
        <p:spPr>
          <a:xfrm>
            <a:off x="7427952" y="1776293"/>
            <a:ext cx="6412944" cy="2804636"/>
          </a:xfrm>
          <a:prstGeom prst="roundRect">
            <a:avLst>
              <a:gd name="adj" fmla="val 5217"/>
            </a:avLst>
          </a:prstGeom>
          <a:solidFill>
            <a:srgbClr val="FAFFFA"/>
          </a:solidFill>
          <a:ln w="30480">
            <a:solidFill>
              <a:srgbClr val="CED9CE"/>
            </a:solidFill>
            <a:prstDash val="solid"/>
          </a:ln>
        </p:spPr>
      </p:sp>
      <p:sp>
        <p:nvSpPr>
          <p:cNvPr id="8" name="Shape 6"/>
          <p:cNvSpPr/>
          <p:nvPr/>
        </p:nvSpPr>
        <p:spPr>
          <a:xfrm>
            <a:off x="7397472" y="1776293"/>
            <a:ext cx="121920" cy="2804636"/>
          </a:xfrm>
          <a:prstGeom prst="roundRect">
            <a:avLst>
              <a:gd name="adj" fmla="val 166517"/>
            </a:avLst>
          </a:prstGeom>
          <a:solidFill>
            <a:srgbClr val="438951"/>
          </a:solidFill>
          <a:ln/>
        </p:spPr>
      </p:sp>
      <p:sp>
        <p:nvSpPr>
          <p:cNvPr id="9" name="Text 7"/>
          <p:cNvSpPr/>
          <p:nvPr/>
        </p:nvSpPr>
        <p:spPr>
          <a:xfrm>
            <a:off x="7775377" y="2032278"/>
            <a:ext cx="3621286" cy="352425"/>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Client-Side 3D Rendering</a:t>
            </a:r>
            <a:endParaRPr lang="en-US" sz="2200" dirty="0"/>
          </a:p>
        </p:txBody>
      </p:sp>
      <p:sp>
        <p:nvSpPr>
          <p:cNvPr id="10" name="Text 8"/>
          <p:cNvSpPr/>
          <p:nvPr/>
        </p:nvSpPr>
        <p:spPr>
          <a:xfrm>
            <a:off x="7775377" y="2519958"/>
            <a:ext cx="5809536" cy="1804988"/>
          </a:xfrm>
          <a:prstGeom prst="rect">
            <a:avLst/>
          </a:prstGeom>
          <a:noFill/>
          <a:ln/>
        </p:spPr>
        <p:txBody>
          <a:bodyPr wrap="square" lIns="0" tIns="0" rIns="0" bIns="0" rtlCol="0" anchor="t"/>
          <a:lstStyle/>
          <a:p>
            <a:pPr marL="0" indent="0" algn="l">
              <a:lnSpc>
                <a:spcPts val="2800"/>
              </a:lnSpc>
              <a:buNone/>
            </a:pPr>
            <a:r>
              <a:rPr lang="en-US" sz="1750" dirty="0">
                <a:solidFill>
                  <a:srgbClr val="405449"/>
                </a:solidFill>
                <a:latin typeface="Nobile" pitchFamily="34" charset="0"/>
                <a:ea typeface="Nobile" pitchFamily="34" charset="-122"/>
                <a:cs typeface="Nobile" pitchFamily="34" charset="-120"/>
              </a:rPr>
              <a:t>Three.js delivers high-performance 3D graphics directly in the browser. The library handles complex geometry calculations, texture mapping, and real-time rendering without requiring plugins or external applications.</a:t>
            </a:r>
            <a:endParaRPr lang="en-US" sz="1750" dirty="0"/>
          </a:p>
        </p:txBody>
      </p:sp>
      <p:sp>
        <p:nvSpPr>
          <p:cNvPr id="11" name="Shape 9"/>
          <p:cNvSpPr/>
          <p:nvPr/>
        </p:nvSpPr>
        <p:spPr>
          <a:xfrm>
            <a:off x="789503" y="4806434"/>
            <a:ext cx="6412944" cy="2804636"/>
          </a:xfrm>
          <a:prstGeom prst="roundRect">
            <a:avLst>
              <a:gd name="adj" fmla="val 5217"/>
            </a:avLst>
          </a:prstGeom>
          <a:solidFill>
            <a:srgbClr val="FAFFFA"/>
          </a:solidFill>
          <a:ln w="30480">
            <a:solidFill>
              <a:srgbClr val="CED9CE"/>
            </a:solidFill>
            <a:prstDash val="solid"/>
          </a:ln>
        </p:spPr>
      </p:sp>
      <p:sp>
        <p:nvSpPr>
          <p:cNvPr id="12" name="Shape 10"/>
          <p:cNvSpPr/>
          <p:nvPr/>
        </p:nvSpPr>
        <p:spPr>
          <a:xfrm>
            <a:off x="759023" y="4806434"/>
            <a:ext cx="121920" cy="2804636"/>
          </a:xfrm>
          <a:prstGeom prst="roundRect">
            <a:avLst>
              <a:gd name="adj" fmla="val 166517"/>
            </a:avLst>
          </a:prstGeom>
          <a:solidFill>
            <a:srgbClr val="438951"/>
          </a:solidFill>
          <a:ln/>
        </p:spPr>
      </p:sp>
      <p:sp>
        <p:nvSpPr>
          <p:cNvPr id="13" name="Text 11"/>
          <p:cNvSpPr/>
          <p:nvPr/>
        </p:nvSpPr>
        <p:spPr>
          <a:xfrm>
            <a:off x="1136928" y="5062418"/>
            <a:ext cx="3162538" cy="352425"/>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AI Intelligence Engine</a:t>
            </a:r>
            <a:endParaRPr lang="en-US" sz="2200" dirty="0"/>
          </a:p>
        </p:txBody>
      </p:sp>
      <p:sp>
        <p:nvSpPr>
          <p:cNvPr id="14" name="Text 12"/>
          <p:cNvSpPr/>
          <p:nvPr/>
        </p:nvSpPr>
        <p:spPr>
          <a:xfrm>
            <a:off x="1136928" y="5550098"/>
            <a:ext cx="5809536" cy="1804988"/>
          </a:xfrm>
          <a:prstGeom prst="rect">
            <a:avLst/>
          </a:prstGeom>
          <a:noFill/>
          <a:ln/>
        </p:spPr>
        <p:txBody>
          <a:bodyPr wrap="square" lIns="0" tIns="0" rIns="0" bIns="0" rtlCol="0" anchor="t"/>
          <a:lstStyle/>
          <a:p>
            <a:pPr marL="0" indent="0" algn="l">
              <a:lnSpc>
                <a:spcPts val="2800"/>
              </a:lnSpc>
              <a:buNone/>
            </a:pPr>
            <a:r>
              <a:rPr lang="en-US" sz="1750" dirty="0">
                <a:solidFill>
                  <a:srgbClr val="405449"/>
                </a:solidFill>
                <a:latin typeface="Nobile" pitchFamily="34" charset="0"/>
                <a:ea typeface="Nobile" pitchFamily="34" charset="-122"/>
                <a:cs typeface="Nobile" pitchFamily="34" charset="-120"/>
              </a:rPr>
              <a:t>Google's Gemini API (gemini-2.5-flash-preview-05-20 model) provides state-of-the-art multi-modal image analysis. The model generates contextually relevant tags and descriptions by understanding visual content semantically.</a:t>
            </a:r>
            <a:endParaRPr lang="en-US" sz="1750" dirty="0"/>
          </a:p>
        </p:txBody>
      </p:sp>
      <p:sp>
        <p:nvSpPr>
          <p:cNvPr id="15" name="Shape 13"/>
          <p:cNvSpPr/>
          <p:nvPr/>
        </p:nvSpPr>
        <p:spPr>
          <a:xfrm>
            <a:off x="7427952" y="4806434"/>
            <a:ext cx="6412944" cy="2804636"/>
          </a:xfrm>
          <a:prstGeom prst="roundRect">
            <a:avLst>
              <a:gd name="adj" fmla="val 5217"/>
            </a:avLst>
          </a:prstGeom>
          <a:solidFill>
            <a:srgbClr val="FAFFFA"/>
          </a:solidFill>
          <a:ln w="30480">
            <a:solidFill>
              <a:srgbClr val="CED9CE"/>
            </a:solidFill>
            <a:prstDash val="solid"/>
          </a:ln>
        </p:spPr>
      </p:sp>
      <p:sp>
        <p:nvSpPr>
          <p:cNvPr id="16" name="Shape 14"/>
          <p:cNvSpPr/>
          <p:nvPr/>
        </p:nvSpPr>
        <p:spPr>
          <a:xfrm>
            <a:off x="7397472" y="4806434"/>
            <a:ext cx="121920" cy="2804636"/>
          </a:xfrm>
          <a:prstGeom prst="roundRect">
            <a:avLst>
              <a:gd name="adj" fmla="val 166517"/>
            </a:avLst>
          </a:prstGeom>
          <a:solidFill>
            <a:srgbClr val="438951"/>
          </a:solidFill>
          <a:ln/>
        </p:spPr>
      </p:sp>
      <p:sp>
        <p:nvSpPr>
          <p:cNvPr id="17" name="Text 15"/>
          <p:cNvSpPr/>
          <p:nvPr/>
        </p:nvSpPr>
        <p:spPr>
          <a:xfrm>
            <a:off x="7775377" y="5062418"/>
            <a:ext cx="3939302" cy="352425"/>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Mathematical Optimization</a:t>
            </a:r>
            <a:endParaRPr lang="en-US" sz="2200" dirty="0"/>
          </a:p>
        </p:txBody>
      </p:sp>
      <p:sp>
        <p:nvSpPr>
          <p:cNvPr id="18" name="Text 16"/>
          <p:cNvSpPr/>
          <p:nvPr/>
        </p:nvSpPr>
        <p:spPr>
          <a:xfrm>
            <a:off x="7775377" y="5550098"/>
            <a:ext cx="5809536" cy="1443990"/>
          </a:xfrm>
          <a:prstGeom prst="rect">
            <a:avLst/>
          </a:prstGeom>
          <a:noFill/>
          <a:ln/>
        </p:spPr>
        <p:txBody>
          <a:bodyPr wrap="square" lIns="0" tIns="0" rIns="0" bIns="0" rtlCol="0" anchor="t"/>
          <a:lstStyle/>
          <a:p>
            <a:pPr marL="0" indent="0" algn="l">
              <a:lnSpc>
                <a:spcPts val="2800"/>
              </a:lnSpc>
              <a:buNone/>
            </a:pPr>
            <a:r>
              <a:rPr lang="en-US" sz="1750" dirty="0">
                <a:solidFill>
                  <a:srgbClr val="405449"/>
                </a:solidFill>
                <a:latin typeface="Nobile" pitchFamily="34" charset="0"/>
                <a:ea typeface="Nobile" pitchFamily="34" charset="-122"/>
                <a:cs typeface="Nobile" pitchFamily="34" charset="-120"/>
              </a:rPr>
              <a:t>Golden Ratio formulas in main.js ensure aesthetically pleasing image distribution across the 3D sphere surface. This mathematical approach creates visual harmony and prevents clustering artifacts.</a:t>
            </a:r>
            <a:endParaRPr lang="en-US" sz="1750" dirty="0"/>
          </a:p>
        </p:txBody>
      </p:sp>
      <p:sp>
        <p:nvSpPr>
          <p:cNvPr id="19" name="Rectangle 18">
            <a:extLst>
              <a:ext uri="{FF2B5EF4-FFF2-40B4-BE49-F238E27FC236}">
                <a16:creationId xmlns:a16="http://schemas.microsoft.com/office/drawing/2014/main" id="{50119B23-F893-3922-4B20-40A43F73D408}"/>
              </a:ext>
            </a:extLst>
          </p:cNvPr>
          <p:cNvSpPr/>
          <p:nvPr/>
        </p:nvSpPr>
        <p:spPr>
          <a:xfrm>
            <a:off x="12754466" y="7758260"/>
            <a:ext cx="1800520" cy="377072"/>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191464"/>
          </a:xfrm>
          <a:prstGeom prst="rect">
            <a:avLst/>
          </a:prstGeom>
        </p:spPr>
      </p:pic>
      <p:sp>
        <p:nvSpPr>
          <p:cNvPr id="3" name="Text 0"/>
          <p:cNvSpPr/>
          <p:nvPr/>
        </p:nvSpPr>
        <p:spPr>
          <a:xfrm>
            <a:off x="613529" y="2673548"/>
            <a:ext cx="5833824" cy="547807"/>
          </a:xfrm>
          <a:prstGeom prst="rect">
            <a:avLst/>
          </a:prstGeom>
          <a:noFill/>
          <a:ln/>
        </p:spPr>
        <p:txBody>
          <a:bodyPr wrap="none" lIns="0" tIns="0" rIns="0" bIns="0" rtlCol="0" anchor="t"/>
          <a:lstStyle/>
          <a:p>
            <a:pPr marL="0" indent="0" algn="l">
              <a:lnSpc>
                <a:spcPts val="4300"/>
              </a:lnSpc>
              <a:buNone/>
            </a:pPr>
            <a:r>
              <a:rPr lang="en-US" sz="3450" b="1" dirty="0">
                <a:solidFill>
                  <a:srgbClr val="3B4540"/>
                </a:solidFill>
                <a:latin typeface="Fraunces Extra Bold" pitchFamily="34" charset="0"/>
                <a:ea typeface="Fraunces Extra Bold" pitchFamily="34" charset="-122"/>
                <a:cs typeface="Fraunces Extra Bold" pitchFamily="34" charset="-120"/>
              </a:rPr>
              <a:t>Results and Achievements</a:t>
            </a:r>
            <a:endParaRPr lang="en-US" sz="3450" dirty="0"/>
          </a:p>
        </p:txBody>
      </p:sp>
      <p:sp>
        <p:nvSpPr>
          <p:cNvPr id="4" name="Text 1"/>
          <p:cNvSpPr/>
          <p:nvPr/>
        </p:nvSpPr>
        <p:spPr>
          <a:xfrm>
            <a:off x="613529" y="3571875"/>
            <a:ext cx="4321731" cy="578525"/>
          </a:xfrm>
          <a:prstGeom prst="rect">
            <a:avLst/>
          </a:prstGeom>
          <a:noFill/>
          <a:ln/>
        </p:spPr>
        <p:txBody>
          <a:bodyPr wrap="none" lIns="0" tIns="0" rIns="0" bIns="0" rtlCol="0" anchor="t"/>
          <a:lstStyle/>
          <a:p>
            <a:pPr marL="0" indent="0" algn="ctr">
              <a:lnSpc>
                <a:spcPts val="4550"/>
              </a:lnSpc>
              <a:buNone/>
            </a:pPr>
            <a:r>
              <a:rPr lang="en-US" sz="4550" b="1" dirty="0">
                <a:solidFill>
                  <a:srgbClr val="405449"/>
                </a:solidFill>
                <a:latin typeface="Fraunces Extra Bold" pitchFamily="34" charset="0"/>
                <a:ea typeface="Fraunces Extra Bold" pitchFamily="34" charset="-122"/>
                <a:cs typeface="Fraunces Extra Bold" pitchFamily="34" charset="-120"/>
              </a:rPr>
              <a:t>100%</a:t>
            </a:r>
            <a:endParaRPr lang="en-US" sz="4550" dirty="0"/>
          </a:p>
        </p:txBody>
      </p:sp>
      <p:sp>
        <p:nvSpPr>
          <p:cNvPr id="5" name="Text 2"/>
          <p:cNvSpPr/>
          <p:nvPr/>
        </p:nvSpPr>
        <p:spPr>
          <a:xfrm>
            <a:off x="1516380" y="4369475"/>
            <a:ext cx="2515910" cy="273963"/>
          </a:xfrm>
          <a:prstGeom prst="rect">
            <a:avLst/>
          </a:prstGeom>
          <a:noFill/>
          <a:ln/>
        </p:spPr>
        <p:txBody>
          <a:bodyPr wrap="none" lIns="0" tIns="0" rIns="0" bIns="0" rtlCol="0" anchor="t"/>
          <a:lstStyle/>
          <a:p>
            <a:pPr marL="0" indent="0" algn="ctr">
              <a:lnSpc>
                <a:spcPts val="2150"/>
              </a:lnSpc>
              <a:buNone/>
            </a:pPr>
            <a:r>
              <a:rPr lang="en-US" sz="1700" b="1" dirty="0">
                <a:solidFill>
                  <a:srgbClr val="405449"/>
                </a:solidFill>
                <a:latin typeface="Fraunces Extra Bold" pitchFamily="34" charset="0"/>
                <a:ea typeface="Fraunces Extra Bold" pitchFamily="34" charset="-122"/>
                <a:cs typeface="Fraunces Extra Bold" pitchFamily="34" charset="-120"/>
              </a:rPr>
              <a:t>AI Integration Success</a:t>
            </a:r>
            <a:endParaRPr lang="en-US" sz="1700" dirty="0"/>
          </a:p>
        </p:txBody>
      </p:sp>
      <p:sp>
        <p:nvSpPr>
          <p:cNvPr id="6" name="Text 3"/>
          <p:cNvSpPr/>
          <p:nvPr/>
        </p:nvSpPr>
        <p:spPr>
          <a:xfrm>
            <a:off x="613529" y="4748570"/>
            <a:ext cx="4321731" cy="841177"/>
          </a:xfrm>
          <a:prstGeom prst="rect">
            <a:avLst/>
          </a:prstGeom>
          <a:noFill/>
          <a:ln/>
        </p:spPr>
        <p:txBody>
          <a:bodyPr wrap="square" lIns="0" tIns="0" rIns="0" bIns="0" rtlCol="0" anchor="t"/>
          <a:lstStyle/>
          <a:p>
            <a:pPr marL="0" indent="0" algn="ctr">
              <a:lnSpc>
                <a:spcPts val="2200"/>
              </a:lnSpc>
              <a:buNone/>
            </a:pPr>
            <a:r>
              <a:rPr lang="en-US" sz="1350" dirty="0">
                <a:solidFill>
                  <a:srgbClr val="405449"/>
                </a:solidFill>
                <a:latin typeface="Nobile" pitchFamily="34" charset="0"/>
                <a:ea typeface="Nobile" pitchFamily="34" charset="-122"/>
                <a:cs typeface="Nobile" pitchFamily="34" charset="-120"/>
              </a:rPr>
              <a:t>Successfully integrated cutting-edge Gemini API with traditional PHP/MySQL stack, demonstrating cross-platform compatibility</a:t>
            </a:r>
            <a:endParaRPr lang="en-US" sz="1350" dirty="0"/>
          </a:p>
        </p:txBody>
      </p:sp>
      <p:sp>
        <p:nvSpPr>
          <p:cNvPr id="7" name="Text 4"/>
          <p:cNvSpPr/>
          <p:nvPr/>
        </p:nvSpPr>
        <p:spPr>
          <a:xfrm>
            <a:off x="5154335" y="3571875"/>
            <a:ext cx="4321731" cy="578525"/>
          </a:xfrm>
          <a:prstGeom prst="rect">
            <a:avLst/>
          </a:prstGeom>
          <a:noFill/>
          <a:ln/>
        </p:spPr>
        <p:txBody>
          <a:bodyPr wrap="none" lIns="0" tIns="0" rIns="0" bIns="0" rtlCol="0" anchor="t"/>
          <a:lstStyle/>
          <a:p>
            <a:pPr marL="0" indent="0" algn="ctr">
              <a:lnSpc>
                <a:spcPts val="4550"/>
              </a:lnSpc>
              <a:buNone/>
            </a:pPr>
            <a:r>
              <a:rPr lang="en-US" sz="4550" b="1" dirty="0">
                <a:solidFill>
                  <a:srgbClr val="405449"/>
                </a:solidFill>
                <a:latin typeface="Fraunces Extra Bold" pitchFamily="34" charset="0"/>
                <a:ea typeface="Fraunces Extra Bold" pitchFamily="34" charset="-122"/>
                <a:cs typeface="Fraunces Extra Bold" pitchFamily="34" charset="-120"/>
              </a:rPr>
              <a:t>3D</a:t>
            </a:r>
            <a:endParaRPr lang="en-US" sz="4550" dirty="0"/>
          </a:p>
        </p:txBody>
      </p:sp>
      <p:sp>
        <p:nvSpPr>
          <p:cNvPr id="8" name="Text 5"/>
          <p:cNvSpPr/>
          <p:nvPr/>
        </p:nvSpPr>
        <p:spPr>
          <a:xfrm>
            <a:off x="6103025" y="4369475"/>
            <a:ext cx="2424351" cy="273963"/>
          </a:xfrm>
          <a:prstGeom prst="rect">
            <a:avLst/>
          </a:prstGeom>
          <a:noFill/>
          <a:ln/>
        </p:spPr>
        <p:txBody>
          <a:bodyPr wrap="none" lIns="0" tIns="0" rIns="0" bIns="0" rtlCol="0" anchor="t"/>
          <a:lstStyle/>
          <a:p>
            <a:pPr marL="0" indent="0" algn="ctr">
              <a:lnSpc>
                <a:spcPts val="2150"/>
              </a:lnSpc>
              <a:buNone/>
            </a:pPr>
            <a:r>
              <a:rPr lang="en-US" sz="1700" b="1" dirty="0">
                <a:solidFill>
                  <a:srgbClr val="405449"/>
                </a:solidFill>
                <a:latin typeface="Fraunces Extra Bold" pitchFamily="34" charset="0"/>
                <a:ea typeface="Fraunces Extra Bold" pitchFamily="34" charset="-122"/>
                <a:cs typeface="Fraunces Extra Bold" pitchFamily="34" charset="-120"/>
              </a:rPr>
              <a:t>Immersive Rendering</a:t>
            </a:r>
            <a:endParaRPr lang="en-US" sz="1700" dirty="0"/>
          </a:p>
        </p:txBody>
      </p:sp>
      <p:sp>
        <p:nvSpPr>
          <p:cNvPr id="9" name="Text 6"/>
          <p:cNvSpPr/>
          <p:nvPr/>
        </p:nvSpPr>
        <p:spPr>
          <a:xfrm>
            <a:off x="5154335" y="4748570"/>
            <a:ext cx="4321731" cy="841177"/>
          </a:xfrm>
          <a:prstGeom prst="rect">
            <a:avLst/>
          </a:prstGeom>
          <a:noFill/>
          <a:ln/>
        </p:spPr>
        <p:txBody>
          <a:bodyPr wrap="square" lIns="0" tIns="0" rIns="0" bIns="0" rtlCol="0" anchor="t"/>
          <a:lstStyle/>
          <a:p>
            <a:pPr marL="0" indent="0" algn="ctr">
              <a:lnSpc>
                <a:spcPts val="2200"/>
              </a:lnSpc>
              <a:buNone/>
            </a:pPr>
            <a:r>
              <a:rPr lang="en-US" sz="1350" dirty="0">
                <a:solidFill>
                  <a:srgbClr val="405449"/>
                </a:solidFill>
                <a:latin typeface="Nobile" pitchFamily="34" charset="0"/>
                <a:ea typeface="Nobile" pitchFamily="34" charset="-122"/>
                <a:cs typeface="Nobile" pitchFamily="34" charset="-120"/>
              </a:rPr>
              <a:t>Developed fully responsive platform with complex Three.js 3D visualization maintaining 60fps performance</a:t>
            </a:r>
            <a:endParaRPr lang="en-US" sz="1350" dirty="0"/>
          </a:p>
        </p:txBody>
      </p:sp>
      <p:sp>
        <p:nvSpPr>
          <p:cNvPr id="10" name="Text 7"/>
          <p:cNvSpPr/>
          <p:nvPr/>
        </p:nvSpPr>
        <p:spPr>
          <a:xfrm>
            <a:off x="9695140" y="3571875"/>
            <a:ext cx="4321731" cy="578525"/>
          </a:xfrm>
          <a:prstGeom prst="rect">
            <a:avLst/>
          </a:prstGeom>
          <a:noFill/>
          <a:ln/>
        </p:spPr>
        <p:txBody>
          <a:bodyPr wrap="none" lIns="0" tIns="0" rIns="0" bIns="0" rtlCol="0" anchor="t"/>
          <a:lstStyle/>
          <a:p>
            <a:pPr marL="0" indent="0" algn="ctr">
              <a:lnSpc>
                <a:spcPts val="4550"/>
              </a:lnSpc>
              <a:buNone/>
            </a:pPr>
            <a:r>
              <a:rPr lang="en-US" sz="4550" b="1" dirty="0">
                <a:solidFill>
                  <a:srgbClr val="405449"/>
                </a:solidFill>
                <a:latin typeface="Fraunces Extra Bold" pitchFamily="34" charset="0"/>
                <a:ea typeface="Fraunces Extra Bold" pitchFamily="34" charset="-122"/>
                <a:cs typeface="Fraunces Extra Bold" pitchFamily="34" charset="-120"/>
              </a:rPr>
              <a:t>Auto</a:t>
            </a:r>
            <a:endParaRPr lang="en-US" sz="4550" dirty="0"/>
          </a:p>
        </p:txBody>
      </p:sp>
      <p:sp>
        <p:nvSpPr>
          <p:cNvPr id="11" name="Text 8"/>
          <p:cNvSpPr/>
          <p:nvPr/>
        </p:nvSpPr>
        <p:spPr>
          <a:xfrm>
            <a:off x="10716578" y="4369475"/>
            <a:ext cx="2278856" cy="273963"/>
          </a:xfrm>
          <a:prstGeom prst="rect">
            <a:avLst/>
          </a:prstGeom>
          <a:noFill/>
          <a:ln/>
        </p:spPr>
        <p:txBody>
          <a:bodyPr wrap="none" lIns="0" tIns="0" rIns="0" bIns="0" rtlCol="0" anchor="t"/>
          <a:lstStyle/>
          <a:p>
            <a:pPr marL="0" indent="0" algn="ctr">
              <a:lnSpc>
                <a:spcPts val="2150"/>
              </a:lnSpc>
              <a:buNone/>
            </a:pPr>
            <a:r>
              <a:rPr lang="en-US" sz="1700" b="1" dirty="0">
                <a:solidFill>
                  <a:srgbClr val="405449"/>
                </a:solidFill>
                <a:latin typeface="Fraunces Extra Bold" pitchFamily="34" charset="0"/>
                <a:ea typeface="Fraunces Extra Bold" pitchFamily="34" charset="-122"/>
                <a:cs typeface="Fraunces Extra Bold" pitchFamily="34" charset="-120"/>
              </a:rPr>
              <a:t>Content Automation</a:t>
            </a:r>
            <a:endParaRPr lang="en-US" sz="1700" dirty="0"/>
          </a:p>
        </p:txBody>
      </p:sp>
      <p:sp>
        <p:nvSpPr>
          <p:cNvPr id="12" name="Text 9"/>
          <p:cNvSpPr/>
          <p:nvPr/>
        </p:nvSpPr>
        <p:spPr>
          <a:xfrm>
            <a:off x="9695140" y="4748570"/>
            <a:ext cx="4321731" cy="560784"/>
          </a:xfrm>
          <a:prstGeom prst="rect">
            <a:avLst/>
          </a:prstGeom>
          <a:noFill/>
          <a:ln/>
        </p:spPr>
        <p:txBody>
          <a:bodyPr wrap="square" lIns="0" tIns="0" rIns="0" bIns="0" rtlCol="0" anchor="t"/>
          <a:lstStyle/>
          <a:p>
            <a:pPr marL="0" indent="0" algn="ctr">
              <a:lnSpc>
                <a:spcPts val="2200"/>
              </a:lnSpc>
              <a:buNone/>
            </a:pPr>
            <a:r>
              <a:rPr lang="en-US" sz="1350" dirty="0">
                <a:solidFill>
                  <a:srgbClr val="405449"/>
                </a:solidFill>
                <a:latin typeface="Nobile" pitchFamily="34" charset="0"/>
                <a:ea typeface="Nobile" pitchFamily="34" charset="-122"/>
                <a:cs typeface="Nobile" pitchFamily="34" charset="-120"/>
              </a:rPr>
              <a:t>Eliminated manual tagging overhead through intelligent AI-powered metadata generation</a:t>
            </a:r>
            <a:endParaRPr lang="en-US" sz="1350" dirty="0"/>
          </a:p>
        </p:txBody>
      </p:sp>
      <p:sp>
        <p:nvSpPr>
          <p:cNvPr id="13" name="Text 10"/>
          <p:cNvSpPr/>
          <p:nvPr/>
        </p:nvSpPr>
        <p:spPr>
          <a:xfrm>
            <a:off x="613529" y="5852636"/>
            <a:ext cx="3188970" cy="328732"/>
          </a:xfrm>
          <a:prstGeom prst="rect">
            <a:avLst/>
          </a:prstGeom>
          <a:noFill/>
          <a:ln/>
        </p:spPr>
        <p:txBody>
          <a:bodyPr wrap="none" lIns="0" tIns="0" rIns="0" bIns="0" rtlCol="0" anchor="t"/>
          <a:lstStyle/>
          <a:p>
            <a:pPr marL="0" indent="0" algn="l">
              <a:lnSpc>
                <a:spcPts val="2550"/>
              </a:lnSpc>
              <a:buNone/>
            </a:pPr>
            <a:r>
              <a:rPr lang="en-US" sz="2050" b="1" dirty="0">
                <a:solidFill>
                  <a:srgbClr val="3B4540"/>
                </a:solidFill>
                <a:latin typeface="Fraunces Extra Bold" pitchFamily="34" charset="0"/>
                <a:ea typeface="Fraunces Extra Bold" pitchFamily="34" charset="-122"/>
                <a:cs typeface="Fraunces Extra Bold" pitchFamily="34" charset="-120"/>
              </a:rPr>
              <a:t>Key Learning Outcomes</a:t>
            </a:r>
            <a:endParaRPr lang="en-US" sz="2050" dirty="0"/>
          </a:p>
        </p:txBody>
      </p:sp>
      <p:sp>
        <p:nvSpPr>
          <p:cNvPr id="14" name="Text 11"/>
          <p:cNvSpPr/>
          <p:nvPr/>
        </p:nvSpPr>
        <p:spPr>
          <a:xfrm>
            <a:off x="613529" y="6444258"/>
            <a:ext cx="13403342" cy="280392"/>
          </a:xfrm>
          <a:prstGeom prst="rect">
            <a:avLst/>
          </a:prstGeom>
          <a:noFill/>
          <a:ln/>
        </p:spPr>
        <p:txBody>
          <a:bodyPr wrap="none" lIns="0" tIns="0" rIns="0" bIns="0" rtlCol="0" anchor="t"/>
          <a:lstStyle/>
          <a:p>
            <a:pPr marL="342900" indent="-342900" algn="l">
              <a:lnSpc>
                <a:spcPts val="2200"/>
              </a:lnSpc>
              <a:buSzPct val="100000"/>
              <a:buChar char="•"/>
            </a:pPr>
            <a:r>
              <a:rPr lang="en-US" sz="1350" dirty="0">
                <a:solidFill>
                  <a:srgbClr val="405449"/>
                </a:solidFill>
                <a:latin typeface="Nobile" pitchFamily="34" charset="0"/>
                <a:ea typeface="Nobile" pitchFamily="34" charset="-122"/>
                <a:cs typeface="Nobile" pitchFamily="34" charset="-120"/>
              </a:rPr>
              <a:t>Mastered asynchronous JavaScript patterns and Fetch API for non-blocking data operations</a:t>
            </a:r>
            <a:endParaRPr lang="en-US" sz="1350" dirty="0"/>
          </a:p>
        </p:txBody>
      </p:sp>
      <p:sp>
        <p:nvSpPr>
          <p:cNvPr id="15" name="Text 12"/>
          <p:cNvSpPr/>
          <p:nvPr/>
        </p:nvSpPr>
        <p:spPr>
          <a:xfrm>
            <a:off x="613529" y="6785967"/>
            <a:ext cx="13403342" cy="280392"/>
          </a:xfrm>
          <a:prstGeom prst="rect">
            <a:avLst/>
          </a:prstGeom>
          <a:noFill/>
          <a:ln/>
        </p:spPr>
        <p:txBody>
          <a:bodyPr wrap="none" lIns="0" tIns="0" rIns="0" bIns="0" rtlCol="0" anchor="t"/>
          <a:lstStyle/>
          <a:p>
            <a:pPr marL="342900" indent="-342900" algn="l">
              <a:lnSpc>
                <a:spcPts val="2200"/>
              </a:lnSpc>
              <a:buSzPct val="100000"/>
              <a:buChar char="•"/>
            </a:pPr>
            <a:r>
              <a:rPr lang="en-US" sz="1350" dirty="0">
                <a:solidFill>
                  <a:srgbClr val="405449"/>
                </a:solidFill>
                <a:latin typeface="Nobile" pitchFamily="34" charset="0"/>
                <a:ea typeface="Nobile" pitchFamily="34" charset="-122"/>
                <a:cs typeface="Nobile" pitchFamily="34" charset="-120"/>
              </a:rPr>
              <a:t>Gained expertise in managing multi-modal data structures and API response handling</a:t>
            </a:r>
            <a:endParaRPr lang="en-US" sz="1350" dirty="0"/>
          </a:p>
        </p:txBody>
      </p:sp>
      <p:sp>
        <p:nvSpPr>
          <p:cNvPr id="16" name="Text 13"/>
          <p:cNvSpPr/>
          <p:nvPr/>
        </p:nvSpPr>
        <p:spPr>
          <a:xfrm>
            <a:off x="613529" y="7127677"/>
            <a:ext cx="13403342" cy="280392"/>
          </a:xfrm>
          <a:prstGeom prst="rect">
            <a:avLst/>
          </a:prstGeom>
          <a:noFill/>
          <a:ln/>
        </p:spPr>
        <p:txBody>
          <a:bodyPr wrap="none" lIns="0" tIns="0" rIns="0" bIns="0" rtlCol="0" anchor="t"/>
          <a:lstStyle/>
          <a:p>
            <a:pPr marL="342900" indent="-342900" algn="l">
              <a:lnSpc>
                <a:spcPts val="2200"/>
              </a:lnSpc>
              <a:buSzPct val="100000"/>
              <a:buChar char="•"/>
            </a:pPr>
            <a:r>
              <a:rPr lang="en-US" sz="1350" dirty="0">
                <a:solidFill>
                  <a:srgbClr val="405449"/>
                </a:solidFill>
                <a:latin typeface="Nobile" pitchFamily="34" charset="0"/>
                <a:ea typeface="Nobile" pitchFamily="34" charset="-122"/>
                <a:cs typeface="Nobile" pitchFamily="34" charset="-120"/>
              </a:rPr>
              <a:t>Developed proficiency in balancing aesthetic design with technical performance constraints</a:t>
            </a:r>
            <a:endParaRPr lang="en-US" sz="1350" dirty="0"/>
          </a:p>
        </p:txBody>
      </p:sp>
      <p:sp>
        <p:nvSpPr>
          <p:cNvPr id="17" name="Text 14"/>
          <p:cNvSpPr/>
          <p:nvPr/>
        </p:nvSpPr>
        <p:spPr>
          <a:xfrm>
            <a:off x="613529" y="7469386"/>
            <a:ext cx="13403342" cy="280392"/>
          </a:xfrm>
          <a:prstGeom prst="rect">
            <a:avLst/>
          </a:prstGeom>
          <a:noFill/>
          <a:ln/>
        </p:spPr>
        <p:txBody>
          <a:bodyPr wrap="none" lIns="0" tIns="0" rIns="0" bIns="0" rtlCol="0" anchor="t"/>
          <a:lstStyle/>
          <a:p>
            <a:pPr marL="342900" indent="-342900" algn="l">
              <a:lnSpc>
                <a:spcPts val="2200"/>
              </a:lnSpc>
              <a:buSzPct val="100000"/>
              <a:buChar char="•"/>
            </a:pPr>
            <a:r>
              <a:rPr lang="en-US" sz="1350" dirty="0">
                <a:solidFill>
                  <a:srgbClr val="405449"/>
                </a:solidFill>
                <a:latin typeface="Nobile" pitchFamily="34" charset="0"/>
                <a:ea typeface="Nobile" pitchFamily="34" charset="-122"/>
                <a:cs typeface="Nobile" pitchFamily="34" charset="-120"/>
              </a:rPr>
              <a:t>Acquired hands-on experience integrating modern AI services into established web architectures</a:t>
            </a:r>
            <a:endParaRPr lang="en-US" sz="1350" dirty="0"/>
          </a:p>
        </p:txBody>
      </p:sp>
      <p:sp>
        <p:nvSpPr>
          <p:cNvPr id="18" name="Rectangle 17">
            <a:extLst>
              <a:ext uri="{FF2B5EF4-FFF2-40B4-BE49-F238E27FC236}">
                <a16:creationId xmlns:a16="http://schemas.microsoft.com/office/drawing/2014/main" id="{4771C87B-1CFE-BEBC-810D-B39FE3EF1B84}"/>
              </a:ext>
            </a:extLst>
          </p:cNvPr>
          <p:cNvSpPr/>
          <p:nvPr/>
        </p:nvSpPr>
        <p:spPr>
          <a:xfrm>
            <a:off x="12754466" y="7758260"/>
            <a:ext cx="1800520" cy="377072"/>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30314"/>
          </a:xfrm>
          <a:prstGeom prst="rect">
            <a:avLst/>
          </a:prstGeom>
        </p:spPr>
      </p:pic>
      <p:sp>
        <p:nvSpPr>
          <p:cNvPr id="3" name="Text 0"/>
          <p:cNvSpPr/>
          <p:nvPr/>
        </p:nvSpPr>
        <p:spPr>
          <a:xfrm>
            <a:off x="707350" y="555784"/>
            <a:ext cx="7729299" cy="1263253"/>
          </a:xfrm>
          <a:prstGeom prst="rect">
            <a:avLst/>
          </a:prstGeom>
          <a:noFill/>
          <a:ln/>
        </p:spPr>
        <p:txBody>
          <a:bodyPr wrap="square" lIns="0" tIns="0" rIns="0" bIns="0" rtlCol="0" anchor="t"/>
          <a:lstStyle/>
          <a:p>
            <a:pPr marL="0" indent="0" algn="l">
              <a:lnSpc>
                <a:spcPts val="4950"/>
              </a:lnSpc>
              <a:buNone/>
            </a:pPr>
            <a:r>
              <a:rPr lang="en-US" sz="3950" b="1" dirty="0">
                <a:solidFill>
                  <a:srgbClr val="3B4540"/>
                </a:solidFill>
                <a:latin typeface="Fraunces Extra Bold" pitchFamily="34" charset="0"/>
                <a:ea typeface="Fraunces Extra Bold" pitchFamily="34" charset="-122"/>
                <a:cs typeface="Fraunces Extra Bold" pitchFamily="34" charset="-120"/>
              </a:rPr>
              <a:t>VistaVignettes Live Demonstration</a:t>
            </a:r>
            <a:endParaRPr lang="en-US" sz="3950" dirty="0"/>
          </a:p>
        </p:txBody>
      </p:sp>
      <p:sp>
        <p:nvSpPr>
          <p:cNvPr id="4" name="Text 1"/>
          <p:cNvSpPr/>
          <p:nvPr/>
        </p:nvSpPr>
        <p:spPr>
          <a:xfrm>
            <a:off x="707350" y="2122170"/>
            <a:ext cx="3756184" cy="378857"/>
          </a:xfrm>
          <a:prstGeom prst="rect">
            <a:avLst/>
          </a:prstGeom>
          <a:noFill/>
          <a:ln/>
        </p:spPr>
        <p:txBody>
          <a:bodyPr wrap="none" lIns="0" tIns="0" rIns="0" bIns="0" rtlCol="0" anchor="t"/>
          <a:lstStyle/>
          <a:p>
            <a:pPr marL="0" indent="0" algn="l">
              <a:lnSpc>
                <a:spcPts val="2950"/>
              </a:lnSpc>
              <a:buNone/>
            </a:pPr>
            <a:r>
              <a:rPr lang="en-US" sz="2350" b="1" dirty="0">
                <a:solidFill>
                  <a:srgbClr val="3B4540"/>
                </a:solidFill>
                <a:latin typeface="Fraunces Extra Bold" pitchFamily="34" charset="0"/>
                <a:ea typeface="Fraunces Extra Bold" pitchFamily="34" charset="-122"/>
                <a:cs typeface="Fraunces Extra Bold" pitchFamily="34" charset="-120"/>
              </a:rPr>
              <a:t>Experience the Platform</a:t>
            </a:r>
            <a:endParaRPr lang="en-US" sz="2350" dirty="0"/>
          </a:p>
        </p:txBody>
      </p:sp>
      <p:sp>
        <p:nvSpPr>
          <p:cNvPr id="5" name="Text 2"/>
          <p:cNvSpPr/>
          <p:nvPr/>
        </p:nvSpPr>
        <p:spPr>
          <a:xfrm>
            <a:off x="707350" y="2804160"/>
            <a:ext cx="7729299" cy="1293495"/>
          </a:xfrm>
          <a:prstGeom prst="rect">
            <a:avLst/>
          </a:prstGeom>
          <a:noFill/>
          <a:ln/>
        </p:spPr>
        <p:txBody>
          <a:bodyPr wrap="squar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The live demonstration showcases the seamless integration of AI-powered content management with immersive 3D visualization. Users can interact with the spherical gallery, search through AI-generated tags, and explore the responsive Masonry layout.</a:t>
            </a:r>
            <a:endParaRPr lang="en-US" sz="1550" dirty="0"/>
          </a:p>
        </p:txBody>
      </p:sp>
      <p:sp>
        <p:nvSpPr>
          <p:cNvPr id="6" name="Shape 3"/>
          <p:cNvSpPr/>
          <p:nvPr/>
        </p:nvSpPr>
        <p:spPr>
          <a:xfrm>
            <a:off x="707350" y="4324945"/>
            <a:ext cx="7729299" cy="1828800"/>
          </a:xfrm>
          <a:prstGeom prst="roundRect">
            <a:avLst>
              <a:gd name="adj" fmla="val 9947"/>
            </a:avLst>
          </a:prstGeom>
          <a:solidFill>
            <a:srgbClr val="CCE6D1"/>
          </a:solidFill>
          <a:ln/>
        </p:spPr>
        <p:txBody>
          <a:bodyPr/>
          <a:lstStyle/>
          <a:p>
            <a:endParaRPr lang="en-IN" dirty="0"/>
          </a:p>
        </p:txBody>
      </p:sp>
      <p:pic>
        <p:nvPicPr>
          <p:cNvPr id="7" name="Image 1" descr="preencoded.png"/>
          <p:cNvPicPr>
            <a:picLocks noChangeAspect="1"/>
          </p:cNvPicPr>
          <p:nvPr/>
        </p:nvPicPr>
        <p:blipFill>
          <a:blip r:embed="rId4"/>
          <a:stretch>
            <a:fillRect/>
          </a:stretch>
        </p:blipFill>
        <p:spPr>
          <a:xfrm>
            <a:off x="909399" y="4614029"/>
            <a:ext cx="252651" cy="202049"/>
          </a:xfrm>
          <a:prstGeom prst="rect">
            <a:avLst/>
          </a:prstGeom>
        </p:spPr>
      </p:pic>
      <p:sp>
        <p:nvSpPr>
          <p:cNvPr id="8" name="Text 4"/>
          <p:cNvSpPr/>
          <p:nvPr/>
        </p:nvSpPr>
        <p:spPr>
          <a:xfrm>
            <a:off x="1364099" y="4577477"/>
            <a:ext cx="6870502" cy="1576268"/>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Nobile" pitchFamily="34" charset="0"/>
                <a:ea typeface="Nobile" pitchFamily="34" charset="-122"/>
                <a:cs typeface="Nobile" pitchFamily="34" charset="-120"/>
              </a:rPr>
              <a:t>Access the Project</a:t>
            </a:r>
            <a:r>
              <a:rPr lang="en-US" sz="1550" dirty="0">
                <a:solidFill>
                  <a:srgbClr val="000000"/>
                </a:solidFill>
                <a:latin typeface="Nobile" pitchFamily="34" charset="0"/>
                <a:ea typeface="Nobile" pitchFamily="34" charset="-122"/>
                <a:cs typeface="Nobile" pitchFamily="34" charset="-120"/>
              </a:rPr>
              <a:t>: </a:t>
            </a:r>
            <a:br>
              <a:rPr lang="en-US" sz="1550" u="sng" dirty="0">
                <a:solidFill>
                  <a:srgbClr val="438951"/>
                </a:solidFill>
                <a:latin typeface="Nobile" pitchFamily="34" charset="0"/>
                <a:ea typeface="Nobile" pitchFamily="34" charset="-122"/>
                <a:cs typeface="Nobile" pitchFamily="34" charset="-120"/>
              </a:rPr>
            </a:br>
            <a:r>
              <a:rPr lang="en-US" sz="1550" dirty="0">
                <a:solidFill>
                  <a:srgbClr val="000000"/>
                </a:solidFill>
                <a:latin typeface="Nobile" pitchFamily="34" charset="0"/>
                <a:ea typeface="Nobile" pitchFamily="34" charset="-122"/>
                <a:cs typeface="Nobile" pitchFamily="34" charset="-120"/>
              </a:rPr>
              <a:t>For live deployment:</a:t>
            </a:r>
          </a:p>
          <a:p>
            <a:pPr>
              <a:lnSpc>
                <a:spcPts val="2500"/>
              </a:lnSpc>
            </a:pPr>
            <a:r>
              <a:rPr lang="en-US" sz="1550" dirty="0">
                <a:solidFill>
                  <a:srgbClr val="000000"/>
                </a:solidFill>
                <a:latin typeface="Nobile" pitchFamily="34" charset="0"/>
              </a:rPr>
              <a:t>	</a:t>
            </a:r>
            <a:r>
              <a:rPr lang="en-US" sz="1550" dirty="0">
                <a:solidFill>
                  <a:srgbClr val="000000"/>
                </a:solidFill>
                <a:latin typeface="Nobile" pitchFamily="34" charset="0"/>
                <a:hlinkClick r:id="rId5"/>
              </a:rPr>
              <a:t>https://vistavignettes.great-site.net/gallery.html?i=1</a:t>
            </a:r>
            <a:br>
              <a:rPr lang="en-US" sz="1550" dirty="0">
                <a:solidFill>
                  <a:srgbClr val="000000"/>
                </a:solidFill>
                <a:latin typeface="Nobile" pitchFamily="34" charset="0"/>
              </a:rPr>
            </a:br>
            <a:r>
              <a:rPr lang="en-US" sz="1550" dirty="0">
                <a:solidFill>
                  <a:srgbClr val="000000"/>
                </a:solidFill>
                <a:latin typeface="Nobile" pitchFamily="34" charset="0"/>
              </a:rPr>
              <a:t>And Demo Video:</a:t>
            </a:r>
            <a:br>
              <a:rPr lang="en-US" sz="1550" dirty="0">
                <a:solidFill>
                  <a:srgbClr val="000000"/>
                </a:solidFill>
                <a:latin typeface="Nobile" pitchFamily="34" charset="0"/>
              </a:rPr>
            </a:br>
            <a:r>
              <a:rPr lang="en-US" sz="1550" dirty="0">
                <a:solidFill>
                  <a:srgbClr val="000000"/>
                </a:solidFill>
                <a:latin typeface="Nobile" pitchFamily="34" charset="0"/>
              </a:rPr>
              <a:t>	https://youtu.be/nMfSTnMfmQM</a:t>
            </a:r>
            <a:endParaRPr lang="en-US" sz="1550" dirty="0"/>
          </a:p>
        </p:txBody>
      </p:sp>
      <p:sp>
        <p:nvSpPr>
          <p:cNvPr id="9" name="Text 5"/>
          <p:cNvSpPr/>
          <p:nvPr/>
        </p:nvSpPr>
        <p:spPr>
          <a:xfrm>
            <a:off x="707350" y="6381036"/>
            <a:ext cx="7729299" cy="1293495"/>
          </a:xfrm>
          <a:prstGeom prst="rect">
            <a:avLst/>
          </a:prstGeom>
          <a:noFill/>
          <a:ln/>
        </p:spPr>
        <p:txBody>
          <a:bodyPr wrap="square" lIns="0" tIns="0" rIns="0" bIns="0" rtlCol="0" anchor="t"/>
          <a:lstStyle/>
          <a:p>
            <a:pPr marL="0" indent="0" algn="l">
              <a:lnSpc>
                <a:spcPts val="2500"/>
              </a:lnSpc>
              <a:buNone/>
            </a:pPr>
            <a:r>
              <a:rPr lang="en-US" sz="1550" dirty="0">
                <a:solidFill>
                  <a:srgbClr val="405449"/>
                </a:solidFill>
                <a:latin typeface="Nobile" pitchFamily="34" charset="0"/>
                <a:ea typeface="Nobile" pitchFamily="34" charset="-122"/>
                <a:cs typeface="Nobile" pitchFamily="34" charset="-120"/>
              </a:rPr>
              <a:t>The demonstration highlights key features including real-time 3D rotation, intelligent search functionality, glassmorphism UI elements, and cross-device responsiveness. Try the AI-powered search to see how accurately Gemini-generated tags enable content discovery.</a:t>
            </a:r>
            <a:endParaRPr lang="en-US" sz="1550" dirty="0"/>
          </a:p>
        </p:txBody>
      </p:sp>
      <p:sp>
        <p:nvSpPr>
          <p:cNvPr id="10" name="Rectangle 9">
            <a:extLst>
              <a:ext uri="{FF2B5EF4-FFF2-40B4-BE49-F238E27FC236}">
                <a16:creationId xmlns:a16="http://schemas.microsoft.com/office/drawing/2014/main" id="{94D71949-9CE2-2A05-DD49-902ADE9FADF2}"/>
              </a:ext>
            </a:extLst>
          </p:cNvPr>
          <p:cNvSpPr/>
          <p:nvPr/>
        </p:nvSpPr>
        <p:spPr>
          <a:xfrm>
            <a:off x="12754466" y="7758260"/>
            <a:ext cx="1800520" cy="377072"/>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104311"/>
          </a:xfrm>
          <a:prstGeom prst="rect">
            <a:avLst/>
          </a:prstGeom>
        </p:spPr>
      </p:pic>
      <p:sp>
        <p:nvSpPr>
          <p:cNvPr id="3" name="Text 0"/>
          <p:cNvSpPr/>
          <p:nvPr/>
        </p:nvSpPr>
        <p:spPr>
          <a:xfrm>
            <a:off x="589121" y="2568654"/>
            <a:ext cx="7908369" cy="526018"/>
          </a:xfrm>
          <a:prstGeom prst="rect">
            <a:avLst/>
          </a:prstGeom>
          <a:noFill/>
          <a:ln/>
        </p:spPr>
        <p:txBody>
          <a:bodyPr wrap="none" lIns="0" tIns="0" rIns="0" bIns="0" rtlCol="0" anchor="t"/>
          <a:lstStyle/>
          <a:p>
            <a:pPr marL="0" indent="0" algn="l">
              <a:lnSpc>
                <a:spcPts val="4100"/>
              </a:lnSpc>
              <a:buNone/>
            </a:pPr>
            <a:r>
              <a:rPr lang="en-US" sz="3300" b="1" dirty="0">
                <a:solidFill>
                  <a:srgbClr val="3B4540"/>
                </a:solidFill>
                <a:latin typeface="Fraunces Extra Bold" pitchFamily="34" charset="0"/>
                <a:ea typeface="Fraunces Extra Bold" pitchFamily="34" charset="-122"/>
                <a:cs typeface="Fraunces Extra Bold" pitchFamily="34" charset="-120"/>
              </a:rPr>
              <a:t>Future Enhancements: The Roadmap</a:t>
            </a:r>
            <a:endParaRPr lang="en-US" sz="3300" dirty="0"/>
          </a:p>
        </p:txBody>
      </p:sp>
      <p:sp>
        <p:nvSpPr>
          <p:cNvPr id="4" name="Shape 1"/>
          <p:cNvSpPr/>
          <p:nvPr/>
        </p:nvSpPr>
        <p:spPr>
          <a:xfrm>
            <a:off x="589121" y="5192197"/>
            <a:ext cx="13452158" cy="22860"/>
          </a:xfrm>
          <a:prstGeom prst="roundRect">
            <a:avLst>
              <a:gd name="adj" fmla="val 662788"/>
            </a:avLst>
          </a:prstGeom>
          <a:solidFill>
            <a:srgbClr val="CED9CE"/>
          </a:solidFill>
          <a:ln/>
        </p:spPr>
      </p:sp>
      <p:sp>
        <p:nvSpPr>
          <p:cNvPr id="5" name="Shape 2"/>
          <p:cNvSpPr/>
          <p:nvPr/>
        </p:nvSpPr>
        <p:spPr>
          <a:xfrm>
            <a:off x="3887986" y="4687312"/>
            <a:ext cx="22860" cy="504944"/>
          </a:xfrm>
          <a:prstGeom prst="roundRect">
            <a:avLst>
              <a:gd name="adj" fmla="val 662788"/>
            </a:avLst>
          </a:prstGeom>
          <a:solidFill>
            <a:srgbClr val="CED9CE"/>
          </a:solidFill>
          <a:ln/>
        </p:spPr>
      </p:sp>
      <p:sp>
        <p:nvSpPr>
          <p:cNvPr id="6" name="Shape 3"/>
          <p:cNvSpPr/>
          <p:nvPr/>
        </p:nvSpPr>
        <p:spPr>
          <a:xfrm>
            <a:off x="3710107" y="5002828"/>
            <a:ext cx="378738" cy="378738"/>
          </a:xfrm>
          <a:prstGeom prst="roundRect">
            <a:avLst>
              <a:gd name="adj" fmla="val 40005"/>
            </a:avLst>
          </a:prstGeom>
          <a:solidFill>
            <a:srgbClr val="E8F3E8"/>
          </a:solidFill>
          <a:ln/>
        </p:spPr>
      </p:sp>
      <p:sp>
        <p:nvSpPr>
          <p:cNvPr id="7" name="Text 4"/>
          <p:cNvSpPr/>
          <p:nvPr/>
        </p:nvSpPr>
        <p:spPr>
          <a:xfrm>
            <a:off x="3773210" y="5034320"/>
            <a:ext cx="252413" cy="315635"/>
          </a:xfrm>
          <a:prstGeom prst="rect">
            <a:avLst/>
          </a:prstGeom>
          <a:noFill/>
          <a:ln/>
        </p:spPr>
        <p:txBody>
          <a:bodyPr wrap="none" lIns="0" tIns="0" rIns="0" bIns="0" rtlCol="0" anchor="t"/>
          <a:lstStyle/>
          <a:p>
            <a:pPr marL="0" indent="0" algn="ctr">
              <a:lnSpc>
                <a:spcPts val="1950"/>
              </a:lnSpc>
              <a:buNone/>
            </a:pPr>
            <a:r>
              <a:rPr lang="en-US" sz="1950" b="1" dirty="0">
                <a:solidFill>
                  <a:srgbClr val="405449"/>
                </a:solidFill>
                <a:latin typeface="Fraunces Extra Bold" pitchFamily="34" charset="0"/>
                <a:ea typeface="Fraunces Extra Bold" pitchFamily="34" charset="-122"/>
                <a:cs typeface="Fraunces Extra Bold" pitchFamily="34" charset="-120"/>
              </a:rPr>
              <a:t>1</a:t>
            </a:r>
            <a:endParaRPr lang="en-US" sz="1950" dirty="0"/>
          </a:p>
        </p:txBody>
      </p:sp>
      <p:sp>
        <p:nvSpPr>
          <p:cNvPr id="8" name="Text 5"/>
          <p:cNvSpPr/>
          <p:nvPr/>
        </p:nvSpPr>
        <p:spPr>
          <a:xfrm>
            <a:off x="2404943" y="3347085"/>
            <a:ext cx="2989064" cy="262890"/>
          </a:xfrm>
          <a:prstGeom prst="rect">
            <a:avLst/>
          </a:prstGeom>
          <a:noFill/>
          <a:ln/>
        </p:spPr>
        <p:txBody>
          <a:bodyPr wrap="none" lIns="0" tIns="0" rIns="0" bIns="0" rtlCol="0" anchor="t"/>
          <a:lstStyle/>
          <a:p>
            <a:pPr marL="0" indent="0" algn="ctr">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User Authentication System</a:t>
            </a:r>
            <a:endParaRPr lang="en-US" sz="1650" dirty="0"/>
          </a:p>
        </p:txBody>
      </p:sp>
      <p:sp>
        <p:nvSpPr>
          <p:cNvPr id="9" name="Text 6"/>
          <p:cNvSpPr/>
          <p:nvPr/>
        </p:nvSpPr>
        <p:spPr>
          <a:xfrm>
            <a:off x="757357" y="3710940"/>
            <a:ext cx="6284357" cy="807958"/>
          </a:xfrm>
          <a:prstGeom prst="rect">
            <a:avLst/>
          </a:prstGeom>
          <a:noFill/>
          <a:ln/>
        </p:spPr>
        <p:txBody>
          <a:bodyPr wrap="square" lIns="0" tIns="0" rIns="0" bIns="0" rtlCol="0" anchor="t"/>
          <a:lstStyle/>
          <a:p>
            <a:pPr marL="0" indent="0" algn="ctr">
              <a:lnSpc>
                <a:spcPts val="2100"/>
              </a:lnSpc>
              <a:buNone/>
            </a:pPr>
            <a:r>
              <a:rPr lang="en-US" sz="1300" dirty="0">
                <a:solidFill>
                  <a:srgbClr val="405449"/>
                </a:solidFill>
                <a:latin typeface="Nobile" pitchFamily="34" charset="0"/>
                <a:ea typeface="Nobile" pitchFamily="34" charset="-122"/>
                <a:cs typeface="Nobile" pitchFamily="34" charset="-120"/>
              </a:rPr>
              <a:t>Implement secure user profiles with Firebase Authentication or Auth0. Enable personalized galleries, favorites collections, and download history tracking with encrypted data storage.</a:t>
            </a:r>
            <a:endParaRPr lang="en-US" sz="1300" dirty="0"/>
          </a:p>
        </p:txBody>
      </p:sp>
      <p:sp>
        <p:nvSpPr>
          <p:cNvPr id="10" name="Shape 7"/>
          <p:cNvSpPr/>
          <p:nvPr/>
        </p:nvSpPr>
        <p:spPr>
          <a:xfrm>
            <a:off x="7303532" y="5192137"/>
            <a:ext cx="22860" cy="504944"/>
          </a:xfrm>
          <a:prstGeom prst="roundRect">
            <a:avLst>
              <a:gd name="adj" fmla="val 662788"/>
            </a:avLst>
          </a:prstGeom>
          <a:solidFill>
            <a:srgbClr val="CED9CE"/>
          </a:solidFill>
          <a:ln/>
        </p:spPr>
      </p:sp>
      <p:sp>
        <p:nvSpPr>
          <p:cNvPr id="11" name="Shape 8"/>
          <p:cNvSpPr/>
          <p:nvPr/>
        </p:nvSpPr>
        <p:spPr>
          <a:xfrm>
            <a:off x="7125653" y="5002828"/>
            <a:ext cx="378738" cy="378738"/>
          </a:xfrm>
          <a:prstGeom prst="roundRect">
            <a:avLst>
              <a:gd name="adj" fmla="val 40005"/>
            </a:avLst>
          </a:prstGeom>
          <a:solidFill>
            <a:srgbClr val="E8F3E8"/>
          </a:solidFill>
          <a:ln/>
        </p:spPr>
      </p:sp>
      <p:sp>
        <p:nvSpPr>
          <p:cNvPr id="12" name="Text 9"/>
          <p:cNvSpPr/>
          <p:nvPr/>
        </p:nvSpPr>
        <p:spPr>
          <a:xfrm>
            <a:off x="7188756" y="5034320"/>
            <a:ext cx="252413" cy="315635"/>
          </a:xfrm>
          <a:prstGeom prst="rect">
            <a:avLst/>
          </a:prstGeom>
          <a:noFill/>
          <a:ln/>
        </p:spPr>
        <p:txBody>
          <a:bodyPr wrap="none" lIns="0" tIns="0" rIns="0" bIns="0" rtlCol="0" anchor="t"/>
          <a:lstStyle/>
          <a:p>
            <a:pPr marL="0" indent="0" algn="ctr">
              <a:lnSpc>
                <a:spcPts val="1950"/>
              </a:lnSpc>
              <a:buNone/>
            </a:pPr>
            <a:r>
              <a:rPr lang="en-US" sz="1950" b="1" dirty="0">
                <a:solidFill>
                  <a:srgbClr val="405449"/>
                </a:solidFill>
                <a:latin typeface="Fraunces Extra Bold" pitchFamily="34" charset="0"/>
                <a:ea typeface="Fraunces Extra Bold" pitchFamily="34" charset="-122"/>
                <a:cs typeface="Fraunces Extra Bold" pitchFamily="34" charset="-120"/>
              </a:rPr>
              <a:t>2</a:t>
            </a:r>
            <a:endParaRPr lang="en-US" sz="1950" dirty="0"/>
          </a:p>
        </p:txBody>
      </p:sp>
      <p:sp>
        <p:nvSpPr>
          <p:cNvPr id="13" name="Text 10"/>
          <p:cNvSpPr/>
          <p:nvPr/>
        </p:nvSpPr>
        <p:spPr>
          <a:xfrm>
            <a:off x="5648087" y="5865495"/>
            <a:ext cx="3333988" cy="262890"/>
          </a:xfrm>
          <a:prstGeom prst="rect">
            <a:avLst/>
          </a:prstGeom>
          <a:noFill/>
          <a:ln/>
        </p:spPr>
        <p:txBody>
          <a:bodyPr wrap="none" lIns="0" tIns="0" rIns="0" bIns="0" rtlCol="0" anchor="t"/>
          <a:lstStyle/>
          <a:p>
            <a:pPr marL="0" indent="0" algn="ctr">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AI-Powered Recommendations</a:t>
            </a:r>
            <a:endParaRPr lang="en-US" sz="1650" dirty="0"/>
          </a:p>
        </p:txBody>
      </p:sp>
      <p:sp>
        <p:nvSpPr>
          <p:cNvPr id="14" name="Text 11"/>
          <p:cNvSpPr/>
          <p:nvPr/>
        </p:nvSpPr>
        <p:spPr>
          <a:xfrm>
            <a:off x="4172903" y="6229350"/>
            <a:ext cx="6284476" cy="807958"/>
          </a:xfrm>
          <a:prstGeom prst="rect">
            <a:avLst/>
          </a:prstGeom>
          <a:noFill/>
          <a:ln/>
        </p:spPr>
        <p:txBody>
          <a:bodyPr wrap="square" lIns="0" tIns="0" rIns="0" bIns="0" rtlCol="0" anchor="t"/>
          <a:lstStyle/>
          <a:p>
            <a:pPr marL="0" indent="0" algn="ctr">
              <a:lnSpc>
                <a:spcPts val="2100"/>
              </a:lnSpc>
              <a:buNone/>
            </a:pPr>
            <a:r>
              <a:rPr lang="en-US" sz="1300" dirty="0">
                <a:solidFill>
                  <a:srgbClr val="405449"/>
                </a:solidFill>
                <a:latin typeface="Nobile" pitchFamily="34" charset="0"/>
                <a:ea typeface="Nobile" pitchFamily="34" charset="-122"/>
                <a:cs typeface="Nobile" pitchFamily="34" charset="-120"/>
              </a:rPr>
              <a:t>Deploy machine learning clustering algorithms on AI-generated tag data. Provide real-time, personalized wallpaper suggestions based on user preferences and browsing patterns.</a:t>
            </a:r>
            <a:endParaRPr lang="en-US" sz="1300" dirty="0"/>
          </a:p>
        </p:txBody>
      </p:sp>
      <p:sp>
        <p:nvSpPr>
          <p:cNvPr id="15" name="Shape 12"/>
          <p:cNvSpPr/>
          <p:nvPr/>
        </p:nvSpPr>
        <p:spPr>
          <a:xfrm>
            <a:off x="10719197" y="4687312"/>
            <a:ext cx="22860" cy="504944"/>
          </a:xfrm>
          <a:prstGeom prst="roundRect">
            <a:avLst>
              <a:gd name="adj" fmla="val 662788"/>
            </a:avLst>
          </a:prstGeom>
          <a:solidFill>
            <a:srgbClr val="CED9CE"/>
          </a:solidFill>
          <a:ln/>
        </p:spPr>
      </p:sp>
      <p:sp>
        <p:nvSpPr>
          <p:cNvPr id="16" name="Shape 13"/>
          <p:cNvSpPr/>
          <p:nvPr/>
        </p:nvSpPr>
        <p:spPr>
          <a:xfrm>
            <a:off x="10541318" y="5002828"/>
            <a:ext cx="378738" cy="378738"/>
          </a:xfrm>
          <a:prstGeom prst="roundRect">
            <a:avLst>
              <a:gd name="adj" fmla="val 40005"/>
            </a:avLst>
          </a:prstGeom>
          <a:solidFill>
            <a:srgbClr val="E8F3E8"/>
          </a:solidFill>
          <a:ln/>
        </p:spPr>
      </p:sp>
      <p:sp>
        <p:nvSpPr>
          <p:cNvPr id="17" name="Text 14"/>
          <p:cNvSpPr/>
          <p:nvPr/>
        </p:nvSpPr>
        <p:spPr>
          <a:xfrm>
            <a:off x="10604421" y="5034320"/>
            <a:ext cx="252413" cy="315635"/>
          </a:xfrm>
          <a:prstGeom prst="rect">
            <a:avLst/>
          </a:prstGeom>
          <a:noFill/>
          <a:ln/>
        </p:spPr>
        <p:txBody>
          <a:bodyPr wrap="none" lIns="0" tIns="0" rIns="0" bIns="0" rtlCol="0" anchor="t"/>
          <a:lstStyle/>
          <a:p>
            <a:pPr marL="0" indent="0" algn="ctr">
              <a:lnSpc>
                <a:spcPts val="1950"/>
              </a:lnSpc>
              <a:buNone/>
            </a:pPr>
            <a:r>
              <a:rPr lang="en-US" sz="1950" b="1" dirty="0">
                <a:solidFill>
                  <a:srgbClr val="405449"/>
                </a:solidFill>
                <a:latin typeface="Fraunces Extra Bold" pitchFamily="34" charset="0"/>
                <a:ea typeface="Fraunces Extra Bold" pitchFamily="34" charset="-122"/>
                <a:cs typeface="Fraunces Extra Bold" pitchFamily="34" charset="-120"/>
              </a:rPr>
              <a:t>3</a:t>
            </a:r>
            <a:endParaRPr lang="en-US" sz="1950" dirty="0"/>
          </a:p>
        </p:txBody>
      </p:sp>
      <p:sp>
        <p:nvSpPr>
          <p:cNvPr id="18" name="Text 15"/>
          <p:cNvSpPr/>
          <p:nvPr/>
        </p:nvSpPr>
        <p:spPr>
          <a:xfrm>
            <a:off x="9050179" y="3347085"/>
            <a:ext cx="3361253" cy="262890"/>
          </a:xfrm>
          <a:prstGeom prst="rect">
            <a:avLst/>
          </a:prstGeom>
          <a:noFill/>
          <a:ln/>
        </p:spPr>
        <p:txBody>
          <a:bodyPr wrap="none" lIns="0" tIns="0" rIns="0" bIns="0" rtlCol="0" anchor="t"/>
          <a:lstStyle/>
          <a:p>
            <a:pPr marL="0" indent="0" algn="ctr">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Cloud Infrastructure Migration</a:t>
            </a:r>
            <a:endParaRPr lang="en-US" sz="1650" dirty="0"/>
          </a:p>
        </p:txBody>
      </p:sp>
      <p:sp>
        <p:nvSpPr>
          <p:cNvPr id="19" name="Text 16"/>
          <p:cNvSpPr/>
          <p:nvPr/>
        </p:nvSpPr>
        <p:spPr>
          <a:xfrm>
            <a:off x="7588568" y="3710940"/>
            <a:ext cx="6284476" cy="807958"/>
          </a:xfrm>
          <a:prstGeom prst="rect">
            <a:avLst/>
          </a:prstGeom>
          <a:noFill/>
          <a:ln/>
        </p:spPr>
        <p:txBody>
          <a:bodyPr wrap="square" lIns="0" tIns="0" rIns="0" bIns="0" rtlCol="0" anchor="t"/>
          <a:lstStyle/>
          <a:p>
            <a:pPr marL="0" indent="0" algn="ctr">
              <a:lnSpc>
                <a:spcPts val="2100"/>
              </a:lnSpc>
              <a:buNone/>
            </a:pPr>
            <a:r>
              <a:rPr lang="en-US" sz="1300" dirty="0">
                <a:solidFill>
                  <a:srgbClr val="405449"/>
                </a:solidFill>
                <a:latin typeface="Nobile" pitchFamily="34" charset="0"/>
                <a:ea typeface="Nobile" pitchFamily="34" charset="-122"/>
                <a:cs typeface="Nobile" pitchFamily="34" charset="-120"/>
              </a:rPr>
              <a:t>Transition from local LAMP stack to modern cloud platforms (AWS, Google Cloud, or Azure). Implement CDN distribution, containerization, and auto-scaling for global accessibility.</a:t>
            </a:r>
            <a:endParaRPr lang="en-US" sz="1300" dirty="0"/>
          </a:p>
        </p:txBody>
      </p:sp>
      <p:sp>
        <p:nvSpPr>
          <p:cNvPr id="20" name="Text 17"/>
          <p:cNvSpPr/>
          <p:nvPr/>
        </p:nvSpPr>
        <p:spPr>
          <a:xfrm>
            <a:off x="589121" y="7226618"/>
            <a:ext cx="13452158" cy="538639"/>
          </a:xfrm>
          <a:prstGeom prst="rect">
            <a:avLst/>
          </a:prstGeom>
          <a:noFill/>
          <a:ln/>
        </p:spPr>
        <p:txBody>
          <a:bodyPr wrap="square" lIns="0" tIns="0" rIns="0" bIns="0" rtlCol="0" anchor="t"/>
          <a:lstStyle/>
          <a:p>
            <a:pPr marL="0" indent="0" algn="l">
              <a:lnSpc>
                <a:spcPts val="2100"/>
              </a:lnSpc>
              <a:buNone/>
            </a:pPr>
            <a:r>
              <a:rPr lang="en-US" sz="1300" dirty="0">
                <a:solidFill>
                  <a:srgbClr val="405449"/>
                </a:solidFill>
                <a:latin typeface="Nobile" pitchFamily="34" charset="0"/>
                <a:ea typeface="Nobile" pitchFamily="34" charset="-122"/>
                <a:cs typeface="Nobile" pitchFamily="34" charset="-120"/>
              </a:rPr>
              <a:t>These enhancements will transform VistaVignettes from a demonstration project into a production-ready platform capable of serving thousands of concurrent users while maintaining performance and intelligent content discovery.</a:t>
            </a:r>
            <a:endParaRPr lang="en-US" sz="1300" dirty="0"/>
          </a:p>
        </p:txBody>
      </p:sp>
      <p:sp>
        <p:nvSpPr>
          <p:cNvPr id="21" name="Rectangle 20">
            <a:extLst>
              <a:ext uri="{FF2B5EF4-FFF2-40B4-BE49-F238E27FC236}">
                <a16:creationId xmlns:a16="http://schemas.microsoft.com/office/drawing/2014/main" id="{B9F9347F-CED1-0101-EED4-78D3ACFD5289}"/>
              </a:ext>
            </a:extLst>
          </p:cNvPr>
          <p:cNvSpPr/>
          <p:nvPr/>
        </p:nvSpPr>
        <p:spPr>
          <a:xfrm>
            <a:off x="12754466" y="7758260"/>
            <a:ext cx="1800520" cy="377072"/>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021943" y="421838"/>
            <a:ext cx="3825716" cy="478155"/>
          </a:xfrm>
          <a:prstGeom prst="rect">
            <a:avLst/>
          </a:prstGeom>
          <a:noFill/>
          <a:ln/>
        </p:spPr>
        <p:txBody>
          <a:bodyPr wrap="none" lIns="0" tIns="0" rIns="0" bIns="0" rtlCol="0" anchor="t"/>
          <a:lstStyle/>
          <a:p>
            <a:pPr marL="0" indent="0" algn="l">
              <a:lnSpc>
                <a:spcPts val="3750"/>
              </a:lnSpc>
              <a:buNone/>
            </a:pPr>
            <a:r>
              <a:rPr lang="en-US" sz="3000" b="1" dirty="0">
                <a:solidFill>
                  <a:srgbClr val="3B4540"/>
                </a:solidFill>
                <a:latin typeface="Fraunces Extra Bold" pitchFamily="34" charset="0"/>
                <a:ea typeface="Fraunces Extra Bold" pitchFamily="34" charset="-122"/>
                <a:cs typeface="Fraunces Extra Bold" pitchFamily="34" charset="-120"/>
              </a:rPr>
              <a:t>Thank You</a:t>
            </a:r>
            <a:endParaRPr lang="en-US" sz="3000" dirty="0"/>
          </a:p>
        </p:txBody>
      </p:sp>
      <p:sp>
        <p:nvSpPr>
          <p:cNvPr id="4" name="Text 1"/>
          <p:cNvSpPr/>
          <p:nvPr/>
        </p:nvSpPr>
        <p:spPr>
          <a:xfrm>
            <a:off x="6021943" y="1129427"/>
            <a:ext cx="8072914" cy="1912620"/>
          </a:xfrm>
          <a:prstGeom prst="rect">
            <a:avLst/>
          </a:prstGeom>
          <a:noFill/>
          <a:ln/>
        </p:spPr>
        <p:txBody>
          <a:bodyPr wrap="square" lIns="0" tIns="0" rIns="0" bIns="0" rtlCol="0" anchor="t"/>
          <a:lstStyle/>
          <a:p>
            <a:pPr marL="0" indent="0" algn="l">
              <a:lnSpc>
                <a:spcPts val="7500"/>
              </a:lnSpc>
              <a:buNone/>
            </a:pPr>
            <a:r>
              <a:rPr lang="en-US" sz="6000" b="1" dirty="0">
                <a:solidFill>
                  <a:srgbClr val="3B4540"/>
                </a:solidFill>
                <a:latin typeface="Fraunces Extra Bold" pitchFamily="34" charset="0"/>
                <a:ea typeface="Fraunces Extra Bold" pitchFamily="34" charset="-122"/>
                <a:cs typeface="Fraunces Extra Bold" pitchFamily="34" charset="-120"/>
              </a:rPr>
              <a:t>Questions &amp; Discussion</a:t>
            </a:r>
            <a:endParaRPr lang="en-US" sz="6000" dirty="0"/>
          </a:p>
        </p:txBody>
      </p:sp>
      <p:sp>
        <p:nvSpPr>
          <p:cNvPr id="5" name="Shape 2"/>
          <p:cNvSpPr/>
          <p:nvPr/>
        </p:nvSpPr>
        <p:spPr>
          <a:xfrm>
            <a:off x="6021943" y="3271480"/>
            <a:ext cx="3959900" cy="1983224"/>
          </a:xfrm>
          <a:prstGeom prst="roundRect">
            <a:avLst>
              <a:gd name="adj" fmla="val 6945"/>
            </a:avLst>
          </a:prstGeom>
          <a:solidFill>
            <a:srgbClr val="E8F3E8"/>
          </a:solidFill>
          <a:ln/>
        </p:spPr>
      </p:sp>
      <p:sp>
        <p:nvSpPr>
          <p:cNvPr id="6" name="Shape 3"/>
          <p:cNvSpPr/>
          <p:nvPr/>
        </p:nvSpPr>
        <p:spPr>
          <a:xfrm>
            <a:off x="6174938" y="3424476"/>
            <a:ext cx="458986" cy="458986"/>
          </a:xfrm>
          <a:prstGeom prst="roundRect">
            <a:avLst>
              <a:gd name="adj" fmla="val 19920184"/>
            </a:avLst>
          </a:prstGeom>
          <a:solidFill>
            <a:srgbClr val="438951"/>
          </a:solidFill>
          <a:ln/>
        </p:spPr>
      </p:sp>
      <p:pic>
        <p:nvPicPr>
          <p:cNvPr id="7" name="Image 1" descr="preencoded.png"/>
          <p:cNvPicPr>
            <a:picLocks noChangeAspect="1"/>
          </p:cNvPicPr>
          <p:nvPr/>
        </p:nvPicPr>
        <p:blipFill>
          <a:blip r:embed="rId4"/>
          <a:stretch>
            <a:fillRect/>
          </a:stretch>
        </p:blipFill>
        <p:spPr>
          <a:xfrm>
            <a:off x="6301145" y="3524845"/>
            <a:ext cx="206573" cy="258128"/>
          </a:xfrm>
          <a:prstGeom prst="rect">
            <a:avLst/>
          </a:prstGeom>
        </p:spPr>
      </p:pic>
      <p:sp>
        <p:nvSpPr>
          <p:cNvPr id="8" name="Text 4"/>
          <p:cNvSpPr/>
          <p:nvPr/>
        </p:nvSpPr>
        <p:spPr>
          <a:xfrm>
            <a:off x="6174938" y="4036457"/>
            <a:ext cx="1912858" cy="239078"/>
          </a:xfrm>
          <a:prstGeom prst="rect">
            <a:avLst/>
          </a:prstGeom>
          <a:noFill/>
          <a:ln/>
        </p:spPr>
        <p:txBody>
          <a:bodyPr wrap="none" lIns="0" tIns="0" rIns="0" bIns="0" rtlCol="0" anchor="t"/>
          <a:lstStyle/>
          <a:p>
            <a:pPr marL="0" indent="0" algn="l">
              <a:lnSpc>
                <a:spcPts val="1850"/>
              </a:lnSpc>
              <a:buNone/>
            </a:pPr>
            <a:r>
              <a:rPr lang="en-US" sz="1500" b="1" dirty="0">
                <a:solidFill>
                  <a:srgbClr val="405449"/>
                </a:solidFill>
                <a:latin typeface="Fraunces Extra Bold" pitchFamily="34" charset="0"/>
                <a:ea typeface="Fraunces Extra Bold" pitchFamily="34" charset="-122"/>
                <a:cs typeface="Fraunces Extra Bold" pitchFamily="34" charset="-120"/>
              </a:rPr>
              <a:t>Contact</a:t>
            </a:r>
            <a:endParaRPr lang="en-US" sz="1500" dirty="0"/>
          </a:p>
        </p:txBody>
      </p:sp>
      <p:sp>
        <p:nvSpPr>
          <p:cNvPr id="9" name="Text 5"/>
          <p:cNvSpPr/>
          <p:nvPr/>
        </p:nvSpPr>
        <p:spPr>
          <a:xfrm>
            <a:off x="6174938" y="4367332"/>
            <a:ext cx="3653909" cy="734378"/>
          </a:xfrm>
          <a:prstGeom prst="rect">
            <a:avLst/>
          </a:prstGeom>
          <a:noFill/>
          <a:ln/>
        </p:spPr>
        <p:txBody>
          <a:bodyPr wrap="square" lIns="0" tIns="0" rIns="0" bIns="0" rtlCol="0" anchor="t"/>
          <a:lstStyle/>
          <a:p>
            <a:pPr marL="0" indent="0" algn="l">
              <a:lnSpc>
                <a:spcPts val="1900"/>
              </a:lnSpc>
              <a:buNone/>
            </a:pPr>
            <a:r>
              <a:rPr lang="en-US" sz="1200" dirty="0">
                <a:solidFill>
                  <a:srgbClr val="405449"/>
                </a:solidFill>
                <a:latin typeface="Nobile" pitchFamily="34" charset="0"/>
                <a:ea typeface="Nobile" pitchFamily="34" charset="-122"/>
                <a:cs typeface="Nobile" pitchFamily="34" charset="-120"/>
              </a:rPr>
              <a:t>Abhimanyu Singh RajawatIU2341230380Indus University</a:t>
            </a:r>
            <a:endParaRPr lang="en-US" sz="1200" dirty="0"/>
          </a:p>
        </p:txBody>
      </p:sp>
      <p:sp>
        <p:nvSpPr>
          <p:cNvPr id="10" name="Shape 6"/>
          <p:cNvSpPr/>
          <p:nvPr/>
        </p:nvSpPr>
        <p:spPr>
          <a:xfrm>
            <a:off x="10134838" y="3271480"/>
            <a:ext cx="3960019" cy="1983224"/>
          </a:xfrm>
          <a:prstGeom prst="roundRect">
            <a:avLst>
              <a:gd name="adj" fmla="val 6945"/>
            </a:avLst>
          </a:prstGeom>
          <a:solidFill>
            <a:srgbClr val="E8F3E8"/>
          </a:solidFill>
          <a:ln/>
        </p:spPr>
      </p:sp>
      <p:sp>
        <p:nvSpPr>
          <p:cNvPr id="11" name="Shape 7"/>
          <p:cNvSpPr/>
          <p:nvPr/>
        </p:nvSpPr>
        <p:spPr>
          <a:xfrm>
            <a:off x="10287833" y="3424476"/>
            <a:ext cx="458986" cy="458986"/>
          </a:xfrm>
          <a:prstGeom prst="roundRect">
            <a:avLst>
              <a:gd name="adj" fmla="val 19920184"/>
            </a:avLst>
          </a:prstGeom>
          <a:solidFill>
            <a:srgbClr val="438951"/>
          </a:solidFill>
          <a:ln/>
        </p:spPr>
      </p:sp>
      <p:pic>
        <p:nvPicPr>
          <p:cNvPr id="12" name="Image 2" descr="preencoded.png"/>
          <p:cNvPicPr>
            <a:picLocks noChangeAspect="1"/>
          </p:cNvPicPr>
          <p:nvPr/>
        </p:nvPicPr>
        <p:blipFill>
          <a:blip r:embed="rId5"/>
          <a:stretch>
            <a:fillRect/>
          </a:stretch>
        </p:blipFill>
        <p:spPr>
          <a:xfrm>
            <a:off x="10414040" y="3524845"/>
            <a:ext cx="206573" cy="258128"/>
          </a:xfrm>
          <a:prstGeom prst="rect">
            <a:avLst/>
          </a:prstGeom>
        </p:spPr>
      </p:pic>
      <p:sp>
        <p:nvSpPr>
          <p:cNvPr id="13" name="Text 8"/>
          <p:cNvSpPr/>
          <p:nvPr/>
        </p:nvSpPr>
        <p:spPr>
          <a:xfrm>
            <a:off x="10287833" y="4036457"/>
            <a:ext cx="1912858" cy="239078"/>
          </a:xfrm>
          <a:prstGeom prst="rect">
            <a:avLst/>
          </a:prstGeom>
          <a:noFill/>
          <a:ln/>
        </p:spPr>
        <p:txBody>
          <a:bodyPr wrap="none" lIns="0" tIns="0" rIns="0" bIns="0" rtlCol="0" anchor="t"/>
          <a:lstStyle/>
          <a:p>
            <a:pPr marL="0" indent="0" algn="l">
              <a:lnSpc>
                <a:spcPts val="1850"/>
              </a:lnSpc>
              <a:buNone/>
            </a:pPr>
            <a:r>
              <a:rPr lang="en-US" sz="1500" b="1" dirty="0">
                <a:solidFill>
                  <a:srgbClr val="405449"/>
                </a:solidFill>
                <a:latin typeface="Fraunces Extra Bold" pitchFamily="34" charset="0"/>
                <a:ea typeface="Fraunces Extra Bold" pitchFamily="34" charset="-122"/>
                <a:cs typeface="Fraunces Extra Bold" pitchFamily="34" charset="-120"/>
              </a:rPr>
              <a:t>Technologies</a:t>
            </a:r>
            <a:endParaRPr lang="en-US" sz="1500" dirty="0"/>
          </a:p>
        </p:txBody>
      </p:sp>
      <p:sp>
        <p:nvSpPr>
          <p:cNvPr id="14" name="Text 9"/>
          <p:cNvSpPr/>
          <p:nvPr/>
        </p:nvSpPr>
        <p:spPr>
          <a:xfrm>
            <a:off x="10287833" y="4367332"/>
            <a:ext cx="3654028" cy="489585"/>
          </a:xfrm>
          <a:prstGeom prst="rect">
            <a:avLst/>
          </a:prstGeom>
          <a:noFill/>
          <a:ln/>
        </p:spPr>
        <p:txBody>
          <a:bodyPr wrap="square" lIns="0" tIns="0" rIns="0" bIns="0" rtlCol="0" anchor="t"/>
          <a:lstStyle/>
          <a:p>
            <a:pPr marL="0" indent="0" algn="l">
              <a:lnSpc>
                <a:spcPts val="1900"/>
              </a:lnSpc>
              <a:buNone/>
            </a:pPr>
            <a:r>
              <a:rPr lang="en-US" sz="1200" dirty="0">
                <a:solidFill>
                  <a:srgbClr val="405449"/>
                </a:solidFill>
                <a:latin typeface="Nobile" pitchFamily="34" charset="0"/>
                <a:ea typeface="Nobile" pitchFamily="34" charset="-122"/>
                <a:cs typeface="Nobile" pitchFamily="34" charset="-120"/>
              </a:rPr>
              <a:t>Three.js • PHP • MySQLGemini API • JavaScript</a:t>
            </a:r>
            <a:endParaRPr lang="en-US" sz="1200" dirty="0"/>
          </a:p>
        </p:txBody>
      </p:sp>
      <p:sp>
        <p:nvSpPr>
          <p:cNvPr id="15" name="Shape 10"/>
          <p:cNvSpPr/>
          <p:nvPr/>
        </p:nvSpPr>
        <p:spPr>
          <a:xfrm>
            <a:off x="6021943" y="5407700"/>
            <a:ext cx="8072914" cy="1738432"/>
          </a:xfrm>
          <a:prstGeom prst="roundRect">
            <a:avLst>
              <a:gd name="adj" fmla="val 7922"/>
            </a:avLst>
          </a:prstGeom>
          <a:solidFill>
            <a:srgbClr val="E8F3E8"/>
          </a:solidFill>
          <a:ln/>
        </p:spPr>
      </p:sp>
      <p:sp>
        <p:nvSpPr>
          <p:cNvPr id="16" name="Shape 11"/>
          <p:cNvSpPr/>
          <p:nvPr/>
        </p:nvSpPr>
        <p:spPr>
          <a:xfrm>
            <a:off x="6174938" y="5560695"/>
            <a:ext cx="458986" cy="458986"/>
          </a:xfrm>
          <a:prstGeom prst="roundRect">
            <a:avLst>
              <a:gd name="adj" fmla="val 19920184"/>
            </a:avLst>
          </a:prstGeom>
          <a:solidFill>
            <a:srgbClr val="438951"/>
          </a:solidFill>
          <a:ln/>
        </p:spPr>
      </p:sp>
      <p:pic>
        <p:nvPicPr>
          <p:cNvPr id="17" name="Image 3" descr="preencoded.png"/>
          <p:cNvPicPr>
            <a:picLocks noChangeAspect="1"/>
          </p:cNvPicPr>
          <p:nvPr/>
        </p:nvPicPr>
        <p:blipFill>
          <a:blip r:embed="rId6"/>
          <a:stretch>
            <a:fillRect/>
          </a:stretch>
        </p:blipFill>
        <p:spPr>
          <a:xfrm>
            <a:off x="6301145" y="5661065"/>
            <a:ext cx="206573" cy="258128"/>
          </a:xfrm>
          <a:prstGeom prst="rect">
            <a:avLst/>
          </a:prstGeom>
        </p:spPr>
      </p:pic>
      <p:sp>
        <p:nvSpPr>
          <p:cNvPr id="18" name="Text 12"/>
          <p:cNvSpPr/>
          <p:nvPr/>
        </p:nvSpPr>
        <p:spPr>
          <a:xfrm>
            <a:off x="6174938" y="6172676"/>
            <a:ext cx="1912858" cy="239078"/>
          </a:xfrm>
          <a:prstGeom prst="rect">
            <a:avLst/>
          </a:prstGeom>
          <a:noFill/>
          <a:ln/>
        </p:spPr>
        <p:txBody>
          <a:bodyPr wrap="none" lIns="0" tIns="0" rIns="0" bIns="0" rtlCol="0" anchor="t"/>
          <a:lstStyle/>
          <a:p>
            <a:pPr marL="0" indent="0" algn="l">
              <a:lnSpc>
                <a:spcPts val="1850"/>
              </a:lnSpc>
              <a:buNone/>
            </a:pPr>
            <a:r>
              <a:rPr lang="en-US" sz="1500" b="1" dirty="0">
                <a:solidFill>
                  <a:srgbClr val="405449"/>
                </a:solidFill>
                <a:latin typeface="Fraunces Extra Bold" pitchFamily="34" charset="0"/>
                <a:ea typeface="Fraunces Extra Bold" pitchFamily="34" charset="-122"/>
                <a:cs typeface="Fraunces Extra Bold" pitchFamily="34" charset="-120"/>
              </a:rPr>
              <a:t>Project Focus</a:t>
            </a:r>
            <a:endParaRPr lang="en-US" sz="1500" dirty="0"/>
          </a:p>
        </p:txBody>
      </p:sp>
      <p:sp>
        <p:nvSpPr>
          <p:cNvPr id="19" name="Text 13"/>
          <p:cNvSpPr/>
          <p:nvPr/>
        </p:nvSpPr>
        <p:spPr>
          <a:xfrm>
            <a:off x="6174938" y="6503551"/>
            <a:ext cx="7766923" cy="489585"/>
          </a:xfrm>
          <a:prstGeom prst="rect">
            <a:avLst/>
          </a:prstGeom>
          <a:noFill/>
          <a:ln/>
        </p:spPr>
        <p:txBody>
          <a:bodyPr wrap="square" lIns="0" tIns="0" rIns="0" bIns="0" rtlCol="0" anchor="t"/>
          <a:lstStyle/>
          <a:p>
            <a:pPr marL="0" indent="0" algn="l">
              <a:lnSpc>
                <a:spcPts val="1900"/>
              </a:lnSpc>
              <a:buNone/>
            </a:pPr>
            <a:r>
              <a:rPr lang="en-US" sz="1200" dirty="0">
                <a:solidFill>
                  <a:srgbClr val="405449"/>
                </a:solidFill>
                <a:latin typeface="Nobile" pitchFamily="34" charset="0"/>
                <a:ea typeface="Nobile" pitchFamily="34" charset="-122"/>
                <a:cs typeface="Nobile" pitchFamily="34" charset="-120"/>
              </a:rPr>
              <a:t>AI-Powered Content CurationImmersive 3D Visualization</a:t>
            </a:r>
            <a:endParaRPr lang="en-US" sz="1200" dirty="0"/>
          </a:p>
        </p:txBody>
      </p:sp>
      <p:sp>
        <p:nvSpPr>
          <p:cNvPr id="20" name="Text 14"/>
          <p:cNvSpPr/>
          <p:nvPr/>
        </p:nvSpPr>
        <p:spPr>
          <a:xfrm>
            <a:off x="6021943" y="7318177"/>
            <a:ext cx="8072914" cy="489585"/>
          </a:xfrm>
          <a:prstGeom prst="rect">
            <a:avLst/>
          </a:prstGeom>
          <a:noFill/>
          <a:ln/>
        </p:spPr>
        <p:txBody>
          <a:bodyPr wrap="square" lIns="0" tIns="0" rIns="0" bIns="0" rtlCol="0" anchor="t"/>
          <a:lstStyle/>
          <a:p>
            <a:pPr marL="0" indent="0" algn="l">
              <a:lnSpc>
                <a:spcPts val="1900"/>
              </a:lnSpc>
              <a:buNone/>
            </a:pPr>
            <a:r>
              <a:rPr lang="en-US" sz="1200" dirty="0">
                <a:solidFill>
                  <a:srgbClr val="405449"/>
                </a:solidFill>
                <a:latin typeface="Nobile" pitchFamily="34" charset="0"/>
                <a:ea typeface="Nobile" pitchFamily="34" charset="-122"/>
                <a:cs typeface="Nobile" pitchFamily="34" charset="-120"/>
              </a:rPr>
              <a:t>Thank you for your attention. I welcome your questions about the technical implementation, AI integration strategies, or future development directions for VistaVignettes.</a:t>
            </a:r>
            <a:endParaRPr lang="en-US" sz="1200" dirty="0"/>
          </a:p>
        </p:txBody>
      </p:sp>
      <p:sp>
        <p:nvSpPr>
          <p:cNvPr id="21" name="Rectangle 20">
            <a:extLst>
              <a:ext uri="{FF2B5EF4-FFF2-40B4-BE49-F238E27FC236}">
                <a16:creationId xmlns:a16="http://schemas.microsoft.com/office/drawing/2014/main" id="{71C65600-D862-A099-9D87-5F47C314FAC3}"/>
              </a:ext>
            </a:extLst>
          </p:cNvPr>
          <p:cNvSpPr/>
          <p:nvPr/>
        </p:nvSpPr>
        <p:spPr>
          <a:xfrm>
            <a:off x="12754466" y="7758260"/>
            <a:ext cx="1800520" cy="377072"/>
          </a:xfrm>
          <a:prstGeom prst="rect">
            <a:avLst/>
          </a:prstGeom>
          <a:solidFill>
            <a:srgbClr val="FAFF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1110</Words>
  <Application>Microsoft Office PowerPoint</Application>
  <PresentationFormat>Custom</PresentationFormat>
  <Paragraphs>102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Nobile</vt:lpstr>
      <vt:lpstr>Arial</vt:lpstr>
      <vt:lpstr>Fraunces Extra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Abhimanyu Singh Rajawat</cp:lastModifiedBy>
  <cp:revision>3</cp:revision>
  <dcterms:created xsi:type="dcterms:W3CDTF">2025-10-07T18:55:48Z</dcterms:created>
  <dcterms:modified xsi:type="dcterms:W3CDTF">2025-10-12T19:29:32Z</dcterms:modified>
</cp:coreProperties>
</file>